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2" r:id="rId7"/>
    <p:sldId id="269" r:id="rId8"/>
    <p:sldId id="260" r:id="rId9"/>
    <p:sldId id="261" r:id="rId10"/>
    <p:sldId id="270" r:id="rId11"/>
    <p:sldId id="273" r:id="rId12"/>
    <p:sldId id="271" r:id="rId13"/>
    <p:sldId id="272" r:id="rId14"/>
    <p:sldId id="274" r:id="rId15"/>
    <p:sldId id="264" r:id="rId16"/>
    <p:sldId id="265" r:id="rId17"/>
    <p:sldId id="266" r:id="rId18"/>
    <p:sldId id="275" r:id="rId19"/>
    <p:sldId id="276" r:id="rId20"/>
    <p:sldId id="277" r:id="rId21"/>
    <p:sldId id="278" r:id="rId22"/>
    <p:sldId id="279" r:id="rId23"/>
    <p:sldId id="281" r:id="rId24"/>
    <p:sldId id="280" r:id="rId25"/>
    <p:sldId id="283" r:id="rId26"/>
    <p:sldId id="282" r:id="rId27"/>
    <p:sldId id="258" r:id="rId28"/>
  </p:sldIdLst>
  <p:sldSz cx="12192000" cy="6858000"/>
  <p:notesSz cx="6858000" cy="9144000"/>
  <p:defaultTextStyle>
    <a:defPPr>
      <a:defRPr lang="nb-N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74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Øyvind Sunde" userId="4988c3c6-0fd5-4f1d-9969-c9e164673b47" providerId="ADAL" clId="{5DEC34FD-B464-4669-8C60-E9317A5C90C6}"/>
    <pc:docChg chg="modSld">
      <pc:chgData name="Øyvind Sunde" userId="4988c3c6-0fd5-4f1d-9969-c9e164673b47" providerId="ADAL" clId="{5DEC34FD-B464-4669-8C60-E9317A5C90C6}" dt="2021-01-06T19:56:44.574" v="4"/>
      <pc:docMkLst>
        <pc:docMk/>
      </pc:docMkLst>
      <pc:sldChg chg="modSp mod">
        <pc:chgData name="Øyvind Sunde" userId="4988c3c6-0fd5-4f1d-9969-c9e164673b47" providerId="ADAL" clId="{5DEC34FD-B464-4669-8C60-E9317A5C90C6}" dt="2021-01-06T19:56:44.574" v="4"/>
        <pc:sldMkLst>
          <pc:docMk/>
          <pc:sldMk cId="2240479052" sldId="256"/>
        </pc:sldMkLst>
        <pc:spChg chg="mod">
          <ac:chgData name="Øyvind Sunde" userId="4988c3c6-0fd5-4f1d-9969-c9e164673b47" providerId="ADAL" clId="{5DEC34FD-B464-4669-8C60-E9317A5C90C6}" dt="2021-01-06T19:56:29.818" v="2" actId="20577"/>
          <ac:spMkLst>
            <pc:docMk/>
            <pc:sldMk cId="2240479052" sldId="256"/>
            <ac:spMk id="2" creationId="{94D15A15-F15E-4C28-8A9A-356BB6021B8E}"/>
          </ac:spMkLst>
        </pc:spChg>
        <pc:spChg chg="mod">
          <ac:chgData name="Øyvind Sunde" userId="4988c3c6-0fd5-4f1d-9969-c9e164673b47" providerId="ADAL" clId="{5DEC34FD-B464-4669-8C60-E9317A5C90C6}" dt="2021-01-06T19:56:44.574" v="4"/>
          <ac:spMkLst>
            <pc:docMk/>
            <pc:sldMk cId="2240479052" sldId="256"/>
            <ac:spMk id="3" creationId="{08B5C872-A6A7-4B66-8961-67F7E910A26A}"/>
          </ac:spMkLst>
        </pc:spChg>
      </pc:sldChg>
    </pc:docChg>
  </pc:docChgLst>
  <pc:docChgLst>
    <pc:chgData name="Øyvind Sunde" userId="4988c3c6-0fd5-4f1d-9969-c9e164673b47" providerId="ADAL" clId="{D739FF87-3C05-41B6-AF62-7608C1AAE778}"/>
    <pc:docChg chg="modSld">
      <pc:chgData name="Øyvind Sunde" userId="4988c3c6-0fd5-4f1d-9969-c9e164673b47" providerId="ADAL" clId="{D739FF87-3C05-41B6-AF62-7608C1AAE778}" dt="2022-01-07T06:20:27.665" v="0"/>
      <pc:docMkLst>
        <pc:docMk/>
      </pc:docMkLst>
      <pc:sldChg chg="modSp mod">
        <pc:chgData name="Øyvind Sunde" userId="4988c3c6-0fd5-4f1d-9969-c9e164673b47" providerId="ADAL" clId="{D739FF87-3C05-41B6-AF62-7608C1AAE778}" dt="2022-01-07T06:20:27.665" v="0"/>
        <pc:sldMkLst>
          <pc:docMk/>
          <pc:sldMk cId="2240479052" sldId="256"/>
        </pc:sldMkLst>
        <pc:spChg chg="mod">
          <ac:chgData name="Øyvind Sunde" userId="4988c3c6-0fd5-4f1d-9969-c9e164673b47" providerId="ADAL" clId="{D739FF87-3C05-41B6-AF62-7608C1AAE778}" dt="2022-01-07T06:20:27.665" v="0"/>
          <ac:spMkLst>
            <pc:docMk/>
            <pc:sldMk cId="2240479052" sldId="256"/>
            <ac:spMk id="3" creationId="{08B5C872-A6A7-4B66-8961-67F7E910A26A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tellysbil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C2FECA5-D8E8-4721-85CF-447894BDD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D4974557-003B-4A07-90B7-F7EB65D71E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b-NO"/>
              <a:t>Klikk for å redigere undertittelstil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B16A4FBE-E4DE-4131-B16B-E2442A268C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3F74859D-D85D-4483-B1AA-0F70FDEA8E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28737E3A-C1AC-43AD-B0EA-2E909EECF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804452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tel og innho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DA13CA8-04EA-4579-A59C-C2FB3FB583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4280487-7E83-494C-B777-4EA27BB559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E863D79-1E48-4035-9283-2ED5CB595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4BFE61FA-812E-4F40-A1F2-A78B79A4E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49D1FA05-0B2A-4A12-86CE-92F2F936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539461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Deloversk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5B7D2BC-EC40-40B3-BA89-9593CEEDD3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BC09625E-0D9E-4474-987B-E42ABC72CF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9402A181-A79B-48A8-8575-41BC2FE31F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D391AD9C-862B-45C1-9505-544999BC8C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33499F75-9A00-4851-B922-3611A90150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4203162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o innholdsdel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8DB5DC1-C9A4-4AE8-9B9C-26F9F86F4A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D322263-D3FD-4687-8747-6D0AFDD0B77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129F7C4E-3204-4F3A-A318-AA71505A95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40F5320-9114-487B-8CDE-EBFBB96E2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D0CFADB6-A7CA-421A-B4C3-7CAD623CDD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DB98B8AD-D85B-4312-B0F9-271B78C78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6784305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Sammenlign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2ED5E6A-B435-4FA0-959C-7F34445D57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6451DFFA-E2A9-4574-A78E-4259CB7914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4" name="Plassholder for innhold 3">
            <a:extLst>
              <a:ext uri="{FF2B5EF4-FFF2-40B4-BE49-F238E27FC236}">
                <a16:creationId xmlns:a16="http://schemas.microsoft.com/office/drawing/2014/main" id="{B2991E75-B354-4BBD-8C64-7C8C018BC2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5" name="Plassholder for tekst 4">
            <a:extLst>
              <a:ext uri="{FF2B5EF4-FFF2-40B4-BE49-F238E27FC236}">
                <a16:creationId xmlns:a16="http://schemas.microsoft.com/office/drawing/2014/main" id="{9347B7BF-3069-4094-9296-C6E3EE60935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6" name="Plassholder for innhold 5">
            <a:extLst>
              <a:ext uri="{FF2B5EF4-FFF2-40B4-BE49-F238E27FC236}">
                <a16:creationId xmlns:a16="http://schemas.microsoft.com/office/drawing/2014/main" id="{91D73EAA-816B-4142-8B4A-4FD93DF4D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7" name="Plassholder for dato 6">
            <a:extLst>
              <a:ext uri="{FF2B5EF4-FFF2-40B4-BE49-F238E27FC236}">
                <a16:creationId xmlns:a16="http://schemas.microsoft.com/office/drawing/2014/main" id="{2EB4C5F2-2701-4219-B2D7-35E7D383C6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8" name="Plassholder for bunntekst 7">
            <a:extLst>
              <a:ext uri="{FF2B5EF4-FFF2-40B4-BE49-F238E27FC236}">
                <a16:creationId xmlns:a16="http://schemas.microsoft.com/office/drawing/2014/main" id="{38D81292-A83F-436A-82FB-52CE82BB5B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9" name="Plassholder for lysbildenummer 8">
            <a:extLst>
              <a:ext uri="{FF2B5EF4-FFF2-40B4-BE49-F238E27FC236}">
                <a16:creationId xmlns:a16="http://schemas.microsoft.com/office/drawing/2014/main" id="{6919A8D8-5AC5-466C-8DE7-DF536324D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378202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Bare ti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0ED3A6D-A07A-4683-A74B-C57A686204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dato 2">
            <a:extLst>
              <a:ext uri="{FF2B5EF4-FFF2-40B4-BE49-F238E27FC236}">
                <a16:creationId xmlns:a16="http://schemas.microsoft.com/office/drawing/2014/main" id="{A91D4017-6DD1-4407-A1C8-0762489876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4" name="Plassholder for bunntekst 3">
            <a:extLst>
              <a:ext uri="{FF2B5EF4-FFF2-40B4-BE49-F238E27FC236}">
                <a16:creationId xmlns:a16="http://schemas.microsoft.com/office/drawing/2014/main" id="{E42E90D2-07D4-4722-B4C1-519AA73460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5" name="Plassholder for lysbildenummer 4">
            <a:extLst>
              <a:ext uri="{FF2B5EF4-FFF2-40B4-BE49-F238E27FC236}">
                <a16:creationId xmlns:a16="http://schemas.microsoft.com/office/drawing/2014/main" id="{9E08985F-AE9A-4B68-BB21-3767776649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23629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om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dato 1">
            <a:extLst>
              <a:ext uri="{FF2B5EF4-FFF2-40B4-BE49-F238E27FC236}">
                <a16:creationId xmlns:a16="http://schemas.microsoft.com/office/drawing/2014/main" id="{7D1FFA27-8717-4996-A054-4E9B5E56B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3" name="Plassholder for bunntekst 2">
            <a:extLst>
              <a:ext uri="{FF2B5EF4-FFF2-40B4-BE49-F238E27FC236}">
                <a16:creationId xmlns:a16="http://schemas.microsoft.com/office/drawing/2014/main" id="{76B78A57-20BB-4307-A04D-BFBC2093E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4" name="Plassholder for lysbildenummer 3">
            <a:extLst>
              <a:ext uri="{FF2B5EF4-FFF2-40B4-BE49-F238E27FC236}">
                <a16:creationId xmlns:a16="http://schemas.microsoft.com/office/drawing/2014/main" id="{1B4DFED2-393F-433D-9D33-55428E849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2911431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nhold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3CF4708F-A3FD-41B7-BC3D-36AEA119F0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5B02475-DC84-492C-93D6-5BA38CEB7F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032882CC-C291-47B4-BBD3-04F46475D2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91CB00C0-17F3-4554-AA67-D2BA0989CF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388E7807-76ED-4BE3-9144-527B88A93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5F33ABE2-33C8-4B4B-88FC-4EC3AEE65B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39852036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e med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3D1B905-4BA3-460A-AB5F-D4BB2A7CE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bilde 2">
            <a:extLst>
              <a:ext uri="{FF2B5EF4-FFF2-40B4-BE49-F238E27FC236}">
                <a16:creationId xmlns:a16="http://schemas.microsoft.com/office/drawing/2014/main" id="{D0BDBD02-1042-4450-9A07-C8FD9DE233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b-NO"/>
          </a:p>
        </p:txBody>
      </p:sp>
      <p:sp>
        <p:nvSpPr>
          <p:cNvPr id="4" name="Plassholder for tekst 3">
            <a:extLst>
              <a:ext uri="{FF2B5EF4-FFF2-40B4-BE49-F238E27FC236}">
                <a16:creationId xmlns:a16="http://schemas.microsoft.com/office/drawing/2014/main" id="{1D8E783C-ADD3-4089-8630-4E179F0A88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b-NO"/>
              <a:t>Klikk for å redigere tekststiler i malen</a:t>
            </a:r>
          </a:p>
        </p:txBody>
      </p:sp>
      <p:sp>
        <p:nvSpPr>
          <p:cNvPr id="5" name="Plassholder for dato 4">
            <a:extLst>
              <a:ext uri="{FF2B5EF4-FFF2-40B4-BE49-F238E27FC236}">
                <a16:creationId xmlns:a16="http://schemas.microsoft.com/office/drawing/2014/main" id="{0E0338DA-E669-4DAA-A484-DAC19D8E1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6" name="Plassholder for bunntekst 5">
            <a:extLst>
              <a:ext uri="{FF2B5EF4-FFF2-40B4-BE49-F238E27FC236}">
                <a16:creationId xmlns:a16="http://schemas.microsoft.com/office/drawing/2014/main" id="{19233F81-3795-448F-81CD-1B6FB07B2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7" name="Plassholder for lysbildenummer 6">
            <a:extLst>
              <a:ext uri="{FF2B5EF4-FFF2-40B4-BE49-F238E27FC236}">
                <a16:creationId xmlns:a16="http://schemas.microsoft.com/office/drawing/2014/main" id="{BE81C9C7-4F11-4061-8D31-3936625868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6462134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Loddrett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9F5D58F-AE99-4072-B377-D06625399C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5414A34E-8017-4137-B7CF-8653C699DB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69E9DA17-FE5A-4456-A1DC-AA90FF131D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E8FE15F4-B741-4826-A300-1574C3E2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D1EEFBD6-8586-4179-9016-CCD82C2F4F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244752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Loddrett tittel og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oddrett tittel 1">
            <a:extLst>
              <a:ext uri="{FF2B5EF4-FFF2-40B4-BE49-F238E27FC236}">
                <a16:creationId xmlns:a16="http://schemas.microsoft.com/office/drawing/2014/main" id="{AA96B3C5-8092-406B-99F8-66E1388014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loddrett tekst 2">
            <a:extLst>
              <a:ext uri="{FF2B5EF4-FFF2-40B4-BE49-F238E27FC236}">
                <a16:creationId xmlns:a16="http://schemas.microsoft.com/office/drawing/2014/main" id="{CF7537E7-160B-4EAD-B8DE-6CB8AADCDE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4CDCA163-4879-43FD-91C1-8FC1952B4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7F5464AF-C12C-4881-A5D1-D24E79FB5C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F853C9B3-4C95-4EAE-ADF1-D0AA298C4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827330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ssholder for tittel 1">
            <a:extLst>
              <a:ext uri="{FF2B5EF4-FFF2-40B4-BE49-F238E27FC236}">
                <a16:creationId xmlns:a16="http://schemas.microsoft.com/office/drawing/2014/main" id="{5DC9DDD0-545D-45AF-A048-8E8DEEC0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b-NO"/>
              <a:t>Klikk for å redigere tittelstil</a:t>
            </a:r>
          </a:p>
        </p:txBody>
      </p:sp>
      <p:sp>
        <p:nvSpPr>
          <p:cNvPr id="3" name="Plassholder for tekst 2">
            <a:extLst>
              <a:ext uri="{FF2B5EF4-FFF2-40B4-BE49-F238E27FC236}">
                <a16:creationId xmlns:a16="http://schemas.microsoft.com/office/drawing/2014/main" id="{87661DD0-BC5E-41D0-A8DC-167369698D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b-NO"/>
              <a:t>Klikk for å redigere tekststiler i malen</a:t>
            </a:r>
          </a:p>
          <a:p>
            <a:pPr lvl="1"/>
            <a:r>
              <a:rPr lang="nb-NO"/>
              <a:t>Andre nivå</a:t>
            </a:r>
          </a:p>
          <a:p>
            <a:pPr lvl="2"/>
            <a:r>
              <a:rPr lang="nb-NO"/>
              <a:t>Tredje nivå</a:t>
            </a:r>
          </a:p>
          <a:p>
            <a:pPr lvl="3"/>
            <a:r>
              <a:rPr lang="nb-NO"/>
              <a:t>Fjerde nivå</a:t>
            </a:r>
          </a:p>
          <a:p>
            <a:pPr lvl="4"/>
            <a:r>
              <a:rPr lang="nb-NO"/>
              <a:t>Femte nivå</a:t>
            </a:r>
          </a:p>
        </p:txBody>
      </p:sp>
      <p:sp>
        <p:nvSpPr>
          <p:cNvPr id="4" name="Plassholder for dato 3">
            <a:extLst>
              <a:ext uri="{FF2B5EF4-FFF2-40B4-BE49-F238E27FC236}">
                <a16:creationId xmlns:a16="http://schemas.microsoft.com/office/drawing/2014/main" id="{E3307F76-7B64-4B9A-A9A4-F62CD0634BA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CE21EA-10F0-4ECD-802E-4BFC159EF17E}" type="datetimeFigureOut">
              <a:rPr lang="nb-NO" smtClean="0"/>
              <a:t>07.01.2022</a:t>
            </a:fld>
            <a:endParaRPr lang="nb-NO"/>
          </a:p>
        </p:txBody>
      </p:sp>
      <p:sp>
        <p:nvSpPr>
          <p:cNvPr id="5" name="Plassholder for bunntekst 4">
            <a:extLst>
              <a:ext uri="{FF2B5EF4-FFF2-40B4-BE49-F238E27FC236}">
                <a16:creationId xmlns:a16="http://schemas.microsoft.com/office/drawing/2014/main" id="{221B820C-7AE4-4D2C-8F00-499150A4EF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nb-NO"/>
          </a:p>
        </p:txBody>
      </p:sp>
      <p:sp>
        <p:nvSpPr>
          <p:cNvPr id="6" name="Plassholder for lysbildenummer 5">
            <a:extLst>
              <a:ext uri="{FF2B5EF4-FFF2-40B4-BE49-F238E27FC236}">
                <a16:creationId xmlns:a16="http://schemas.microsoft.com/office/drawing/2014/main" id="{75399034-F0A4-44DD-B210-D0EDA523C8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63F7D0-808F-4BE2-9F24-D0438AA08F0B}" type="slidenum">
              <a:rPr lang="nb-NO" smtClean="0"/>
              <a:t>‹#›</a:t>
            </a:fld>
            <a:endParaRPr lang="nb-NO"/>
          </a:p>
        </p:txBody>
      </p:sp>
    </p:spTree>
    <p:extLst>
      <p:ext uri="{BB962C8B-B14F-4D97-AF65-F5344CB8AC3E}">
        <p14:creationId xmlns:p14="http://schemas.microsoft.com/office/powerpoint/2010/main" val="15393569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b-N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4D15A15-F15E-4C28-8A9A-356BB6021B8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3. Kalkyler i produksjonsbedrifter</a:t>
            </a:r>
          </a:p>
        </p:txBody>
      </p:sp>
      <p:sp>
        <p:nvSpPr>
          <p:cNvPr id="3" name="Undertittel 2">
            <a:extLst>
              <a:ext uri="{FF2B5EF4-FFF2-40B4-BE49-F238E27FC236}">
                <a16:creationId xmlns:a16="http://schemas.microsoft.com/office/drawing/2014/main" id="{08B5C872-A6A7-4B66-8961-67F7E910A26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nb-NO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BØA 205 campus Bergen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2240479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9ED71D-F5CD-4B24-9D77-C6962C72FB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Pensum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6D69246E-52CB-4F59-A4DB-D141F09247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Kapittel 3 i Driftsregnskap og budsjettering</a:t>
            </a:r>
          </a:p>
        </p:txBody>
      </p:sp>
    </p:spTree>
    <p:extLst>
      <p:ext uri="{BB962C8B-B14F-4D97-AF65-F5344CB8AC3E}">
        <p14:creationId xmlns:p14="http://schemas.microsoft.com/office/powerpoint/2010/main" val="425279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C36B2A5A-68C9-4EBC-82B5-1754BE337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2991"/>
            <a:ext cx="10515600" cy="1325563"/>
          </a:xfrm>
        </p:spPr>
        <p:txBody>
          <a:bodyPr/>
          <a:lstStyle/>
          <a:p>
            <a:r>
              <a:rPr lang="nb-NO" dirty="0"/>
              <a:t>Produksjonsbedrifter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89E426E9-DBAE-42F5-976B-A9BC7815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8681"/>
            <a:ext cx="11079997" cy="4939385"/>
          </a:xfrm>
        </p:spPr>
        <p:txBody>
          <a:bodyPr>
            <a:normAutofit/>
          </a:bodyPr>
          <a:lstStyle/>
          <a:p>
            <a:r>
              <a:rPr lang="nb-NO" dirty="0"/>
              <a:t>Produksjonsbedrifter produserer varer og/eller tjenester</a:t>
            </a:r>
          </a:p>
          <a:p>
            <a:pPr lvl="1"/>
            <a:r>
              <a:rPr lang="nb-NO" dirty="0"/>
              <a:t>Læreboka fokuserer på industribedrifter som kjøper inn råvarer og/eller halvfabrikata som bearbeides til alt fra enkle masseproduserte produkter til avanserte og ikke-standardiserte produkter («skreddersøm») </a:t>
            </a:r>
          </a:p>
          <a:p>
            <a:r>
              <a:rPr lang="nb-NO" dirty="0"/>
              <a:t>Produksjonsbedrifter er gjerne inndelt i avdelinger som til sammen gjør det mulig å framstille og selge produktene </a:t>
            </a:r>
          </a:p>
          <a:p>
            <a:pPr lvl="1"/>
            <a:r>
              <a:rPr lang="nb-NO" dirty="0"/>
              <a:t>Eksempelvis kan en industribedrift ha en materialavdeling, en (eller flere) tilvirkningsavdeling(er), monteringsavdeling, salgs- og administrasjonsavdeling</a:t>
            </a:r>
          </a:p>
          <a:p>
            <a:r>
              <a:rPr lang="nb-NO" dirty="0"/>
              <a:t>Produksjon krever innsatsfaktorer som medfører kostnader (lønn, råvarer </a:t>
            </a:r>
            <a:r>
              <a:rPr lang="nb-NO" dirty="0" err="1"/>
              <a:t>etc</a:t>
            </a:r>
            <a:r>
              <a:rPr lang="nb-NO" dirty="0"/>
              <a:t>) som må dekkes av salgsinntektene for at bedriften ikke skal gå med underskudd</a:t>
            </a:r>
          </a:p>
        </p:txBody>
      </p:sp>
      <p:sp>
        <p:nvSpPr>
          <p:cNvPr id="4" name="Avrundet rektangel 13">
            <a:extLst>
              <a:ext uri="{FF2B5EF4-FFF2-40B4-BE49-F238E27FC236}">
                <a16:creationId xmlns:a16="http://schemas.microsoft.com/office/drawing/2014/main" id="{F133DFA4-F9BD-44CF-959B-5E298D9948FE}"/>
              </a:ext>
            </a:extLst>
          </p:cNvPr>
          <p:cNvSpPr/>
          <p:nvPr/>
        </p:nvSpPr>
        <p:spPr>
          <a:xfrm>
            <a:off x="10210441" y="5877235"/>
            <a:ext cx="1920240" cy="80633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Kunder</a:t>
            </a:r>
          </a:p>
        </p:txBody>
      </p:sp>
      <p:sp>
        <p:nvSpPr>
          <p:cNvPr id="5" name="Avrundet rektangel 59">
            <a:extLst>
              <a:ext uri="{FF2B5EF4-FFF2-40B4-BE49-F238E27FC236}">
                <a16:creationId xmlns:a16="http://schemas.microsoft.com/office/drawing/2014/main" id="{999B0664-6D2D-4B6C-AE9E-EE8AC3C38636}"/>
              </a:ext>
            </a:extLst>
          </p:cNvPr>
          <p:cNvSpPr/>
          <p:nvPr/>
        </p:nvSpPr>
        <p:spPr>
          <a:xfrm>
            <a:off x="5021901" y="5841524"/>
            <a:ext cx="1849616" cy="806335"/>
          </a:xfrm>
          <a:prstGeom prst="roundRect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Tilvirknings-avdeling </a:t>
            </a:r>
          </a:p>
        </p:txBody>
      </p:sp>
      <p:sp>
        <p:nvSpPr>
          <p:cNvPr id="6" name="Avrundet rektangel 60">
            <a:extLst>
              <a:ext uri="{FF2B5EF4-FFF2-40B4-BE49-F238E27FC236}">
                <a16:creationId xmlns:a16="http://schemas.microsoft.com/office/drawing/2014/main" id="{3FC2B1B9-DFFC-435B-AD4D-29429FF1B231}"/>
              </a:ext>
            </a:extLst>
          </p:cNvPr>
          <p:cNvSpPr/>
          <p:nvPr/>
        </p:nvSpPr>
        <p:spPr>
          <a:xfrm>
            <a:off x="7001645" y="5848247"/>
            <a:ext cx="2084430" cy="825399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bg1"/>
                </a:solidFill>
              </a:rPr>
              <a:t>Salg og adm.-avdeling</a:t>
            </a:r>
          </a:p>
        </p:txBody>
      </p:sp>
      <p:sp>
        <p:nvSpPr>
          <p:cNvPr id="7" name="Pil ned 61">
            <a:extLst>
              <a:ext uri="{FF2B5EF4-FFF2-40B4-BE49-F238E27FC236}">
                <a16:creationId xmlns:a16="http://schemas.microsoft.com/office/drawing/2014/main" id="{F133F61D-A3AE-42EA-BBDC-046A1FA67E4C}"/>
              </a:ext>
            </a:extLst>
          </p:cNvPr>
          <p:cNvSpPr/>
          <p:nvPr/>
        </p:nvSpPr>
        <p:spPr>
          <a:xfrm rot="16200000">
            <a:off x="6721868" y="6209559"/>
            <a:ext cx="429426" cy="124226"/>
          </a:xfrm>
          <a:prstGeom prst="downArrow">
            <a:avLst/>
          </a:prstGeom>
          <a:solidFill>
            <a:srgbClr val="0000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/>
          </a:p>
        </p:txBody>
      </p:sp>
      <p:sp>
        <p:nvSpPr>
          <p:cNvPr id="8" name="Pil høyre 64">
            <a:extLst>
              <a:ext uri="{FF2B5EF4-FFF2-40B4-BE49-F238E27FC236}">
                <a16:creationId xmlns:a16="http://schemas.microsoft.com/office/drawing/2014/main" id="{C6B6EA70-3B72-4C64-847A-C782483BE49D}"/>
              </a:ext>
            </a:extLst>
          </p:cNvPr>
          <p:cNvSpPr/>
          <p:nvPr/>
        </p:nvSpPr>
        <p:spPr>
          <a:xfrm>
            <a:off x="9086075" y="5831149"/>
            <a:ext cx="1137354" cy="49013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Varer</a:t>
            </a:r>
          </a:p>
        </p:txBody>
      </p:sp>
      <p:sp>
        <p:nvSpPr>
          <p:cNvPr id="9" name="Pil venstre 65">
            <a:extLst>
              <a:ext uri="{FF2B5EF4-FFF2-40B4-BE49-F238E27FC236}">
                <a16:creationId xmlns:a16="http://schemas.microsoft.com/office/drawing/2014/main" id="{52798166-92EE-4375-AE23-20B3EA3B6AE1}"/>
              </a:ext>
            </a:extLst>
          </p:cNvPr>
          <p:cNvSpPr/>
          <p:nvPr/>
        </p:nvSpPr>
        <p:spPr>
          <a:xfrm>
            <a:off x="9086075" y="6227904"/>
            <a:ext cx="1137354" cy="50175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  <p:sp>
        <p:nvSpPr>
          <p:cNvPr id="10" name="Avrundet rektangel 53">
            <a:extLst>
              <a:ext uri="{FF2B5EF4-FFF2-40B4-BE49-F238E27FC236}">
                <a16:creationId xmlns:a16="http://schemas.microsoft.com/office/drawing/2014/main" id="{C302BA3C-8F63-47B6-B9E9-5E59387B10ED}"/>
              </a:ext>
            </a:extLst>
          </p:cNvPr>
          <p:cNvSpPr/>
          <p:nvPr/>
        </p:nvSpPr>
        <p:spPr>
          <a:xfrm>
            <a:off x="3189943" y="5858835"/>
            <a:ext cx="1709066" cy="758461"/>
          </a:xfrm>
          <a:prstGeom prst="roundRect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Material-avdeling</a:t>
            </a:r>
          </a:p>
        </p:txBody>
      </p:sp>
      <p:sp>
        <p:nvSpPr>
          <p:cNvPr id="11" name="Pil høyre 54">
            <a:extLst>
              <a:ext uri="{FF2B5EF4-FFF2-40B4-BE49-F238E27FC236}">
                <a16:creationId xmlns:a16="http://schemas.microsoft.com/office/drawing/2014/main" id="{D25D2779-5471-4B1F-92A7-916C5D72768B}"/>
              </a:ext>
            </a:extLst>
          </p:cNvPr>
          <p:cNvSpPr/>
          <p:nvPr/>
        </p:nvSpPr>
        <p:spPr>
          <a:xfrm>
            <a:off x="4908811" y="6095031"/>
            <a:ext cx="102711" cy="307950"/>
          </a:xfrm>
          <a:prstGeom prst="rightArrow">
            <a:avLst/>
          </a:prstGeom>
          <a:solidFill>
            <a:schemeClr val="bg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b-NO" dirty="0"/>
          </a:p>
        </p:txBody>
      </p:sp>
      <p:sp>
        <p:nvSpPr>
          <p:cNvPr id="12" name="Avrundet rektangel 42">
            <a:extLst>
              <a:ext uri="{FF2B5EF4-FFF2-40B4-BE49-F238E27FC236}">
                <a16:creationId xmlns:a16="http://schemas.microsoft.com/office/drawing/2014/main" id="{CB509752-5019-477E-B1B5-7FCBFADFD7B3}"/>
              </a:ext>
            </a:extLst>
          </p:cNvPr>
          <p:cNvSpPr/>
          <p:nvPr/>
        </p:nvSpPr>
        <p:spPr>
          <a:xfrm>
            <a:off x="73538" y="5894378"/>
            <a:ext cx="1917044" cy="76081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sz="2400" dirty="0">
                <a:solidFill>
                  <a:schemeClr val="tx1"/>
                </a:solidFill>
              </a:rPr>
              <a:t>Leverandører</a:t>
            </a:r>
          </a:p>
        </p:txBody>
      </p:sp>
      <p:sp>
        <p:nvSpPr>
          <p:cNvPr id="13" name="Pil høyre 55">
            <a:extLst>
              <a:ext uri="{FF2B5EF4-FFF2-40B4-BE49-F238E27FC236}">
                <a16:creationId xmlns:a16="http://schemas.microsoft.com/office/drawing/2014/main" id="{CDF0591B-20D2-40D8-AE21-0857345FF4FB}"/>
              </a:ext>
            </a:extLst>
          </p:cNvPr>
          <p:cNvSpPr/>
          <p:nvPr/>
        </p:nvSpPr>
        <p:spPr>
          <a:xfrm>
            <a:off x="2000384" y="5834244"/>
            <a:ext cx="1178417" cy="50683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Material</a:t>
            </a:r>
          </a:p>
        </p:txBody>
      </p:sp>
      <p:sp>
        <p:nvSpPr>
          <p:cNvPr id="14" name="Pil venstre 56">
            <a:extLst>
              <a:ext uri="{FF2B5EF4-FFF2-40B4-BE49-F238E27FC236}">
                <a16:creationId xmlns:a16="http://schemas.microsoft.com/office/drawing/2014/main" id="{2BA95424-546E-4BF3-B03B-13F3F1551414}"/>
              </a:ext>
            </a:extLst>
          </p:cNvPr>
          <p:cNvSpPr/>
          <p:nvPr/>
        </p:nvSpPr>
        <p:spPr>
          <a:xfrm>
            <a:off x="1991280" y="6217502"/>
            <a:ext cx="1211096" cy="48432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b-NO" dirty="0"/>
              <a:t>Betaling</a:t>
            </a:r>
          </a:p>
        </p:txBody>
      </p:sp>
    </p:spTree>
    <p:extLst>
      <p:ext uri="{BB962C8B-B14F-4D97-AF65-F5344CB8AC3E}">
        <p14:creationId xmlns:p14="http://schemas.microsoft.com/office/powerpoint/2010/main" val="2847413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03E4920A-37A9-4393-9C12-19E9A1F0DA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nb-NO" dirty="0"/>
              <a:t>Kostnadssteder, kostnadsbærere og kostnadsarter</a:t>
            </a:r>
          </a:p>
        </p:txBody>
      </p:sp>
    </p:spTree>
    <p:extLst>
      <p:ext uri="{BB962C8B-B14F-4D97-AF65-F5344CB8AC3E}">
        <p14:creationId xmlns:p14="http://schemas.microsoft.com/office/powerpoint/2010/main" val="15027852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BAC4FE6-4D64-48B9-BFFA-A52EE1F7D9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Kostnadssted og kostnadsbærer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C4985902-6BBA-42E0-A760-3228F8C621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Et </a:t>
            </a:r>
            <a:r>
              <a:rPr lang="nb-NO" u="sng" dirty="0"/>
              <a:t>kostnadssted</a:t>
            </a:r>
            <a:r>
              <a:rPr lang="nb-NO" dirty="0"/>
              <a:t> er en avdeling hvor det oppstår kostnader</a:t>
            </a:r>
          </a:p>
          <a:p>
            <a:pPr lvl="1"/>
            <a:r>
              <a:rPr lang="nb-NO" dirty="0"/>
              <a:t>Eksempelvis materialavdeling, tilvirkningsavdeling, monteringsavdeling, salgs- og administrasjonsavdeling</a:t>
            </a:r>
          </a:p>
          <a:p>
            <a:r>
              <a:rPr lang="nb-NO" dirty="0"/>
              <a:t>En </a:t>
            </a:r>
            <a:r>
              <a:rPr lang="nb-NO" u="sng" dirty="0"/>
              <a:t>kostnadsbærer</a:t>
            </a:r>
            <a:r>
              <a:rPr lang="nb-NO" dirty="0"/>
              <a:t> er et produkt eller en ordre hvis salgsinntekter skal være med å bære bedriftens kostnader</a:t>
            </a:r>
          </a:p>
        </p:txBody>
      </p:sp>
    </p:spTree>
    <p:extLst>
      <p:ext uri="{BB962C8B-B14F-4D97-AF65-F5344CB8AC3E}">
        <p14:creationId xmlns:p14="http://schemas.microsoft.com/office/powerpoint/2010/main" val="121133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F986392-F910-41C6-91EA-A2AF233F34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Kostnadsarter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56AD9AC-D34F-4CBA-9DE8-5E3D3D5D66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94756" cy="4978131"/>
          </a:xfrm>
        </p:spPr>
        <p:txBody>
          <a:bodyPr>
            <a:normAutofit lnSpcReduction="10000"/>
          </a:bodyPr>
          <a:lstStyle/>
          <a:p>
            <a:r>
              <a:rPr lang="nb-NO" u="sng" dirty="0"/>
              <a:t>Direkte kostnader</a:t>
            </a:r>
            <a:r>
              <a:rPr lang="nb-NO" dirty="0"/>
              <a:t> er (variable) kostnader som kan føres direkte tilbake til kostnadsbærerne    </a:t>
            </a:r>
          </a:p>
          <a:p>
            <a:pPr lvl="1"/>
            <a:r>
              <a:rPr lang="nb-NO" dirty="0"/>
              <a:t>Direkte kostander registreres fortløpende på produkt / ordre</a:t>
            </a:r>
          </a:p>
          <a:p>
            <a:r>
              <a:rPr lang="nb-NO" u="sng" dirty="0"/>
              <a:t>Indirekte kostnader</a:t>
            </a:r>
            <a:r>
              <a:rPr lang="nb-NO" dirty="0"/>
              <a:t> er faste eller variable kostnader som ikke kan henføres direkte til et produkt eller en ordre</a:t>
            </a:r>
          </a:p>
          <a:p>
            <a:pPr marL="822516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Indirekte </a:t>
            </a:r>
            <a:r>
              <a:rPr kumimoji="0" lang="nb-NO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materialkostnader</a:t>
            </a: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 kostnader forbundet med lagerhold og innkjøp </a:t>
            </a:r>
          </a:p>
          <a:p>
            <a:pPr marL="822516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Indirekte </a:t>
            </a:r>
            <a:r>
              <a:rPr kumimoji="0" lang="nb-NO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tilvirkningskostnader</a:t>
            </a: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er kostnader knyttet til tilvirkning av produkter, for eksempel strømkostnader, lønn til produksjonsplanleggere, avskrivning på maskiner  </a:t>
            </a:r>
          </a:p>
          <a:p>
            <a:pPr marL="822516" marR="0" lvl="1" indent="-4572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–"/>
              <a:tabLst/>
              <a:defRPr/>
            </a:pP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Indirekte </a:t>
            </a:r>
            <a:r>
              <a:rPr kumimoji="0" lang="nb-NO" sz="26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salgs- og administrasjonskostnader </a:t>
            </a:r>
            <a:r>
              <a:rPr kumimoji="0" lang="nb-NO" sz="2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som er kostnader knyttet til administrasjon og salg av produktene</a:t>
            </a:r>
            <a:endParaRPr lang="nb-NO" dirty="0"/>
          </a:p>
          <a:p>
            <a:endParaRPr lang="nb-NO" dirty="0"/>
          </a:p>
          <a:p>
            <a:endParaRPr lang="nb-NO" dirty="0"/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4834077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8422C3F-373A-4AD8-A251-B3FB7DD4D8D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nb-NO" dirty="0"/>
              <a:t>Kalkyler </a:t>
            </a:r>
          </a:p>
        </p:txBody>
      </p:sp>
    </p:spTree>
    <p:extLst>
      <p:ext uri="{BB962C8B-B14F-4D97-AF65-F5344CB8AC3E}">
        <p14:creationId xmlns:p14="http://schemas.microsoft.com/office/powerpoint/2010/main" val="33834973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A314DF6-63A3-412C-9B69-4218D60A9A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Kalkyle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F6B9DAB7-5E26-446A-86E6-1F6C9C40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79997" cy="4923887"/>
          </a:xfrm>
        </p:spPr>
        <p:txBody>
          <a:bodyPr>
            <a:normAutofit/>
          </a:bodyPr>
          <a:lstStyle/>
          <a:p>
            <a:r>
              <a:rPr lang="nb-NO" u="sng" dirty="0"/>
              <a:t>Kalkyle</a:t>
            </a:r>
            <a:r>
              <a:rPr lang="nb-NO" dirty="0"/>
              <a:t> handler om å framskaffe informasjon for blant annet:</a:t>
            </a:r>
          </a:p>
          <a:p>
            <a:pPr lvl="1"/>
            <a:r>
              <a:rPr lang="nb-NO" sz="2800" dirty="0"/>
              <a:t>beregne hvilken pris bedriften bør ta for et produkt gitt at inntektene skal dekke kostnadene og gi fortjeneste </a:t>
            </a:r>
            <a:r>
              <a:rPr lang="nb-NO" sz="2800" i="1" dirty="0"/>
              <a:t>eller</a:t>
            </a:r>
          </a:p>
          <a:p>
            <a:pPr lvl="1"/>
            <a:r>
              <a:rPr lang="nb-NO" sz="2800" dirty="0"/>
              <a:t>beregne hvor stort dekningsbidrag bedriften vil oppnå gitt prisen på et produkt</a:t>
            </a:r>
          </a:p>
          <a:p>
            <a:r>
              <a:rPr lang="nb-NO" dirty="0"/>
              <a:t>En kalkyle som inkluderer alle variable og faste kostnader, dvs. selvkost, kalles for en </a:t>
            </a:r>
            <a:r>
              <a:rPr lang="nb-NO" u="sng" dirty="0"/>
              <a:t>selvkostkalkyle</a:t>
            </a:r>
          </a:p>
          <a:p>
            <a:pPr eaLnBrk="1" hangingPunct="1"/>
            <a:r>
              <a:rPr lang="nb-NO" dirty="0"/>
              <a:t>En kalkyle som bare inneholder variable kostnader, kalles for en </a:t>
            </a:r>
            <a:r>
              <a:rPr lang="nb-NO" u="sng" dirty="0"/>
              <a:t>bidragskalkyle</a:t>
            </a:r>
          </a:p>
          <a:p>
            <a:pPr lvl="1"/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33276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tel 2">
            <a:extLst>
              <a:ext uri="{FF2B5EF4-FFF2-40B4-BE49-F238E27FC236}">
                <a16:creationId xmlns:a16="http://schemas.microsoft.com/office/drawing/2014/main" id="{68D9A93D-1B56-402E-88D8-CC4B13394A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Selvkostkalkyle i produksjonsbedrift</a:t>
            </a: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CED807FF-AEC6-4825-A2D2-C4CA5912EE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252345"/>
              </p:ext>
            </p:extLst>
          </p:nvPr>
        </p:nvGraphicFramePr>
        <p:xfrm>
          <a:off x="2261177" y="1918615"/>
          <a:ext cx="7347772" cy="3752850"/>
        </p:xfrm>
        <a:graphic>
          <a:graphicData uri="http://schemas.openxmlformats.org/drawingml/2006/table">
            <a:tbl>
              <a:tblPr/>
              <a:tblGrid>
                <a:gridCol w="371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5477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1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038">
                <a:tc>
                  <a:txBody>
                    <a:bodyPr/>
                    <a:lstStyle/>
                    <a:p>
                      <a:pPr algn="l" fontAlgn="b"/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Direkte material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Direkte lønn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nb-NO" sz="2400" b="1" dirty="0"/>
                        <a:t>Sum direkte</a:t>
                      </a:r>
                      <a:r>
                        <a:rPr lang="nb-NO" sz="2400" b="1" baseline="0" dirty="0"/>
                        <a:t> kostander</a:t>
                      </a:r>
                      <a:endParaRPr lang="nb-NO" sz="2400" b="1" dirty="0"/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sz="2400" b="1" dirty="0"/>
                        <a:t>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l" fontAlgn="b"/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materialkostnader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50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99635292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tilvirkningskostnader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90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Tilvirkningskost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salgs- og administrasjonskost.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FF"/>
                          </a:solidFill>
                          <a:effectLst/>
                          <a:latin typeface="Calibri"/>
                        </a:rPr>
                        <a:t>24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Selvkost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344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Fortjeneste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36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3549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A68280F2-3395-4B2C-B70F-26315384EE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Bidragskalkyle i produksjonsbedrift</a:t>
            </a:r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2EBB63F1-124D-4E16-8968-3F2C8BDD3B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899463"/>
              </p:ext>
            </p:extLst>
          </p:nvPr>
        </p:nvGraphicFramePr>
        <p:xfrm>
          <a:off x="2255542" y="1911733"/>
          <a:ext cx="7344815" cy="3811664"/>
        </p:xfrm>
        <a:graphic>
          <a:graphicData uri="http://schemas.openxmlformats.org/drawingml/2006/table">
            <a:tbl>
              <a:tblPr/>
              <a:tblGrid>
                <a:gridCol w="4119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1476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519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Direkte material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Direkte lønn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643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Sum direkte kostnader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8766107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</a:t>
                      </a:r>
                      <a:r>
                        <a:rPr lang="nb-NO" sz="24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materialkostnader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30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</a:t>
                      </a:r>
                      <a:r>
                        <a:rPr lang="nb-NO" sz="24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tilvirkningskostander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60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4099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Tilvirknings</a:t>
                      </a:r>
                      <a:r>
                        <a:rPr lang="nb-NO" sz="24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mer</a:t>
                      </a:r>
                      <a:r>
                        <a:rPr lang="nb-NO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kost</a:t>
                      </a:r>
                      <a:endParaRPr lang="nb-N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</a:t>
                      </a:r>
                      <a:r>
                        <a:rPr lang="nb-NO" sz="2400" b="0" i="0" u="sng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variable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</a:t>
                      </a:r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salgs- og administrasjonskost.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Tilvirknings</a:t>
                      </a:r>
                      <a:r>
                        <a:rPr lang="nb-NO" sz="2400" b="1" i="0" u="sng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mer</a:t>
                      </a:r>
                      <a:r>
                        <a:rPr lang="nb-NO" sz="2400" b="1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kost</a:t>
                      </a:r>
                      <a:r>
                        <a:rPr lang="nb-NO" sz="2400" b="1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solgte varer</a:t>
                      </a:r>
                      <a:endParaRPr lang="nb-NO" sz="24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+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Dekningsbidraget (Faste kostnader + fortjeneste)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110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9038"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=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Pris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380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965532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06F1574-9287-4A11-A73C-20D71CA3CE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7233" y="1122363"/>
            <a:ext cx="11801959" cy="2387600"/>
          </a:xfrm>
        </p:spPr>
        <p:txBody>
          <a:bodyPr>
            <a:normAutofit/>
          </a:bodyPr>
          <a:lstStyle/>
          <a:p>
            <a:r>
              <a:rPr lang="nb-NO" dirty="0"/>
              <a:t>Kostnadsfordeling og driftsregnskap i industribedrifter</a:t>
            </a:r>
          </a:p>
        </p:txBody>
      </p:sp>
    </p:spTree>
    <p:extLst>
      <p:ext uri="{BB962C8B-B14F-4D97-AF65-F5344CB8AC3E}">
        <p14:creationId xmlns:p14="http://schemas.microsoft.com/office/powerpoint/2010/main" val="41975380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D91DBC-F51D-4223-AC8C-59E4B8A3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Tilleggssatser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8F92EFE7-6C78-48AA-B374-74B9CA93C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6549"/>
                <a:ext cx="11134240" cy="5021451"/>
              </a:xfrm>
            </p:spPr>
            <p:txBody>
              <a:bodyPr>
                <a:normAutofit/>
              </a:bodyPr>
              <a:lstStyle/>
              <a:p>
                <a:r>
                  <a:rPr lang="nb-NO" dirty="0"/>
                  <a:t>De </a:t>
                </a:r>
                <a:r>
                  <a:rPr lang="nb-NO" i="1" dirty="0"/>
                  <a:t>direkte</a:t>
                </a:r>
                <a:r>
                  <a:rPr lang="nb-NO" dirty="0"/>
                  <a:t> kostnadene føres direkte på de aktuelle produktene</a:t>
                </a:r>
              </a:p>
              <a:p>
                <a:r>
                  <a:rPr lang="nb-NO" dirty="0"/>
                  <a:t>De </a:t>
                </a:r>
                <a:r>
                  <a:rPr lang="nb-NO" i="1" dirty="0"/>
                  <a:t>indirekte</a:t>
                </a:r>
                <a:r>
                  <a:rPr lang="nb-NO" dirty="0"/>
                  <a:t> kostnadene kan henføres til produkter ved å bruke satser for påslag for indirekte kostnader, såkalte </a:t>
                </a:r>
                <a:r>
                  <a:rPr lang="nb-NO" u="sng" dirty="0"/>
                  <a:t>tilleggssatser</a:t>
                </a:r>
                <a:r>
                  <a:rPr lang="nb-NO" dirty="0"/>
                  <a:t> </a:t>
                </a:r>
              </a:p>
              <a:p>
                <a:r>
                  <a:rPr lang="nb-NO" dirty="0"/>
                  <a:t>Tilleggssatsene baserer seg på mål på aktiviteten i den enkelte avdeling hvori de indirekte kostnadene oppstår, såkalte </a:t>
                </a:r>
                <a:r>
                  <a:rPr lang="nb-NO" u="sng" dirty="0"/>
                  <a:t>aktivitetsmål</a:t>
                </a:r>
              </a:p>
              <a:p>
                <a:r>
                  <a:rPr lang="nb-NO" dirty="0"/>
                  <a:t>En tilleggssats vil da være lik den indirekte kostnaden i den aktuelle avdelingen dividert på aktivitetsmålet for denne avdelingen: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𝑇𝑖𝑙𝑙𝑒𝑔𝑠𝑠𝑎𝑡𝑠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𝐼𝑛𝑑𝑖𝑟𝑒𝑘𝑡𝑒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𝑘𝑜𝑠𝑡𝑛𝑎𝑑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𝐴𝑘𝑡𝑖𝑣𝑖𝑡𝑒𝑡</m:t>
                          </m:r>
                        </m:den>
                      </m:f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8F92EFE7-6C78-48AA-B374-74B9CA93C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6549"/>
                <a:ext cx="11134240" cy="5021451"/>
              </a:xfrm>
              <a:blipFill>
                <a:blip r:embed="rId2"/>
                <a:stretch>
                  <a:fillRect l="-986" t="-1942" r="-110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573690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5D91DBC-F51D-4223-AC8C-59E4B8A34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Normalsatser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8F92EFE7-6C78-48AA-B374-74B9CA93CB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836549"/>
                <a:ext cx="11134240" cy="5021451"/>
              </a:xfrm>
            </p:spPr>
            <p:txBody>
              <a:bodyPr/>
              <a:lstStyle/>
              <a:p>
                <a:r>
                  <a:rPr lang="nb-NO" dirty="0"/>
                  <a:t>Dersom man baserer tilleggssatsene på kostnadene og aktivitetene i det man kan betrakte som et normalår eller basert på normalbudsjett, benevner vi tilleggssatsene for  </a:t>
                </a:r>
                <a:r>
                  <a:rPr lang="nb-NO" u="sng" dirty="0"/>
                  <a:t>normalsatser</a:t>
                </a:r>
              </a:p>
              <a:p>
                <a:pPr marL="0" indent="0">
                  <a:buNone/>
                </a:pPr>
                <a:endParaRPr lang="nb-NO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𝑁𝑜𝑟𝑚𝑎𝑙𝑠𝑎𝑡𝑠</m:t>
                      </m:r>
                      <m:r>
                        <a:rPr lang="nb-NO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nb-NO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𝐼𝑛𝑑𝑖𝑟𝑒𝑘𝑡𝑒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𝑘𝑜𝑠𝑡𝑛𝑎𝑑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𝑛𝑜𝑟𝑚𝑎𝑙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å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nb-NO" b="0" i="1" smtClean="0">
                              <a:latin typeface="Cambria Math" panose="02040503050406030204" pitchFamily="18" charset="0"/>
                            </a:rPr>
                            <m:t>𝑎𝑘𝑡𝑖𝑣𝑖𝑡𝑒𝑡</m:t>
                          </m:r>
                        </m:den>
                      </m:f>
                    </m:oMath>
                  </m:oMathPara>
                </a14:m>
                <a:endParaRPr lang="nb-NO" dirty="0"/>
              </a:p>
            </p:txBody>
          </p:sp>
        </mc:Choice>
        <mc:Fallback xmlns="">
          <p:sp>
            <p:nvSpPr>
              <p:cNvPr id="3" name="Plassholder for innhold 2">
                <a:extLst>
                  <a:ext uri="{FF2B5EF4-FFF2-40B4-BE49-F238E27FC236}">
                    <a16:creationId xmlns:a16="http://schemas.microsoft.com/office/drawing/2014/main" id="{8F92EFE7-6C78-48AA-B374-74B9CA93CB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836549"/>
                <a:ext cx="11134240" cy="5021451"/>
              </a:xfrm>
              <a:blipFill>
                <a:blip r:embed="rId2"/>
                <a:stretch>
                  <a:fillRect l="-986" t="-1942"/>
                </a:stretch>
              </a:blipFill>
            </p:spPr>
            <p:txBody>
              <a:bodyPr/>
              <a:lstStyle/>
              <a:p>
                <a:r>
                  <a:rPr lang="nb-NO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553109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E313B0A7-A6CE-4DA8-8804-DEFBD38F2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Selvkostmetoden </a:t>
            </a:r>
            <a:r>
              <a:rPr lang="nb-NO" dirty="0" err="1"/>
              <a:t>vs</a:t>
            </a:r>
            <a:r>
              <a:rPr lang="nb-NO" dirty="0"/>
              <a:t> Bidragsmetoden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3809477A-ECE7-427D-846B-BB5FF8CBA5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94756" cy="4792151"/>
          </a:xfrm>
        </p:spPr>
        <p:txBody>
          <a:bodyPr/>
          <a:lstStyle/>
          <a:p>
            <a:r>
              <a:rPr lang="nb-NO" u="sng" dirty="0"/>
              <a:t>Selvkostmetoden</a:t>
            </a:r>
            <a:r>
              <a:rPr lang="nb-NO" dirty="0"/>
              <a:t> innebærer at man innkalkulerer så vel faste som variable indirekte kostnader</a:t>
            </a:r>
          </a:p>
          <a:p>
            <a:pPr lvl="1"/>
            <a:r>
              <a:rPr lang="nb-NO" dirty="0"/>
              <a:t>Begrepet selvkostmetoden </a:t>
            </a:r>
            <a:r>
              <a:rPr lang="nb-NO" dirty="0" err="1"/>
              <a:t>henspeiler</a:t>
            </a:r>
            <a:r>
              <a:rPr lang="nb-NO" dirty="0"/>
              <a:t> på at ved å inkludere så vel faste som variable kostnader så beregner man produktets / ordrens selvkost</a:t>
            </a:r>
          </a:p>
          <a:p>
            <a:r>
              <a:rPr lang="nb-NO" u="sng" dirty="0"/>
              <a:t>Bidragsmetoden</a:t>
            </a:r>
            <a:r>
              <a:rPr lang="nb-NO" dirty="0"/>
              <a:t> innebærer at man innkalkulerer kun de variable indirekte kostnadene, men altså ikke de indirekte faste kostnadene</a:t>
            </a:r>
          </a:p>
          <a:p>
            <a:pPr lvl="1"/>
            <a:r>
              <a:rPr lang="nb-NO" dirty="0"/>
              <a:t>Begrepet bidragsmetoden </a:t>
            </a:r>
            <a:r>
              <a:rPr lang="nb-NO" dirty="0" err="1"/>
              <a:t>henspeiler</a:t>
            </a:r>
            <a:r>
              <a:rPr lang="nb-NO" dirty="0"/>
              <a:t> på at ved å kun inkludere variable kostnader så beregner man – for gitt salgsinntekt - dekningsbidraget</a:t>
            </a:r>
          </a:p>
          <a:p>
            <a:endParaRPr lang="nb-NO" dirty="0"/>
          </a:p>
        </p:txBody>
      </p:sp>
    </p:spTree>
    <p:extLst>
      <p:ext uri="{BB962C8B-B14F-4D97-AF65-F5344CB8AC3E}">
        <p14:creationId xmlns:p14="http://schemas.microsoft.com/office/powerpoint/2010/main" val="7232354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2B71C43-091C-40C4-A274-D2F274EE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selvkostmetoden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6E6BDB72-AEF2-437F-AB54-412FF80E74E5}"/>
              </a:ext>
            </a:extLst>
          </p:cNvPr>
          <p:cNvSpPr txBox="1">
            <a:spLocks/>
          </p:cNvSpPr>
          <p:nvPr/>
        </p:nvSpPr>
        <p:spPr>
          <a:xfrm>
            <a:off x="1677364" y="1842927"/>
            <a:ext cx="8229600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>
                <a:cs typeface="Times New Roman" pitchFamily="18" charset="0"/>
              </a:rPr>
              <a:t>Driftsregnskapet for AS ØRA for en normalperiode: </a:t>
            </a:r>
          </a:p>
          <a:p>
            <a:endParaRPr lang="nb-NO" sz="1800" dirty="0">
              <a:cs typeface="Times New Roman" pitchFamily="18" charset="0"/>
            </a:endParaRPr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87BC2C8A-F34E-4CEC-97B7-D778B4C470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075351"/>
              </p:ext>
            </p:extLst>
          </p:nvPr>
        </p:nvGraphicFramePr>
        <p:xfrm>
          <a:off x="1677363" y="2607597"/>
          <a:ext cx="9760385" cy="4072169"/>
        </p:xfrm>
        <a:graphic>
          <a:graphicData uri="http://schemas.openxmlformats.org/drawingml/2006/table">
            <a:tbl>
              <a:tblPr/>
              <a:tblGrid>
                <a:gridCol w="582342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44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5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SELVKOSTMETODEN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material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1 000 000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lønn </a:t>
                      </a:r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avd</a:t>
                      </a:r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500 000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1" u="none" strike="noStrike" dirty="0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lønn </a:t>
                      </a:r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avd</a:t>
                      </a:r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700 000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1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kostnader materialavdelingen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150 000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(40 000 faste)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kostnader tilvirkningsavdeling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100 000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1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(30 000 faste)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kostnader tilvirkningsavdeling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210 000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1" u="none" strike="noStrike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(70 000 faste)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Tilvirkningskost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2 660 000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nb-NO" sz="2000" b="0" i="1" u="none" strike="noStrike">
                        <a:solidFill>
                          <a:srgbClr val="000000"/>
                        </a:solidFill>
                        <a:effectLst/>
                        <a:latin typeface="Arial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689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kostnader salgs og administrasjons avd.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532 000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1" u="none" strike="noStrike" dirty="0">
                          <a:solidFill>
                            <a:srgbClr val="000000"/>
                          </a:solidFill>
                          <a:effectLst/>
                          <a:latin typeface="Arial"/>
                        </a:rPr>
                        <a:t> (532 000 faste)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9720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Selvkost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3 192 000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710070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860379EA-F331-435A-8DF7-DB44E5E5B0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444" y="219733"/>
            <a:ext cx="10515600" cy="1325563"/>
          </a:xfrm>
        </p:spPr>
        <p:txBody>
          <a:bodyPr/>
          <a:lstStyle/>
          <a:p>
            <a:r>
              <a:rPr lang="nb-NO" dirty="0"/>
              <a:t>Eksempel normalkalkulasjon selvkostmetoden</a:t>
            </a:r>
          </a:p>
        </p:txBody>
      </p:sp>
      <p:sp>
        <p:nvSpPr>
          <p:cNvPr id="5" name="Plassholder for innhold 4">
            <a:extLst>
              <a:ext uri="{FF2B5EF4-FFF2-40B4-BE49-F238E27FC236}">
                <a16:creationId xmlns:a16="http://schemas.microsoft.com/office/drawing/2014/main" id="{F129A55E-523F-4B48-BF04-73E0BC58E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4147"/>
            <a:ext cx="11196234" cy="5148612"/>
          </a:xfrm>
        </p:spPr>
        <p:txBody>
          <a:bodyPr/>
          <a:lstStyle/>
          <a:p>
            <a:r>
              <a:rPr lang="nb-NO" sz="2800" dirty="0">
                <a:cs typeface="Times New Roman" pitchFamily="18" charset="0"/>
              </a:rPr>
              <a:t>Tilleggssatsen regnes ut med bakgrunn i aktiviteten i den enkelte avdelingen</a:t>
            </a:r>
          </a:p>
          <a:p>
            <a:r>
              <a:rPr lang="nb-NO" sz="2800" dirty="0">
                <a:cs typeface="Times New Roman" pitchFamily="18" charset="0"/>
              </a:rPr>
              <a:t>I ØRA AS antas det følgende sammenheng mellom  kostnadssted og aktivitetsmål:</a:t>
            </a:r>
          </a:p>
          <a:p>
            <a:endParaRPr lang="nb-NO" dirty="0">
              <a:cs typeface="Times New Roman" pitchFamily="18" charset="0"/>
            </a:endParaRPr>
          </a:p>
          <a:p>
            <a:endParaRPr lang="nb-NO" sz="2800" dirty="0">
              <a:cs typeface="Times New Roman" pitchFamily="18" charset="0"/>
            </a:endParaRPr>
          </a:p>
          <a:p>
            <a:endParaRPr lang="nb-NO" dirty="0">
              <a:cs typeface="Times New Roman" pitchFamily="18" charset="0"/>
            </a:endParaRPr>
          </a:p>
          <a:p>
            <a:endParaRPr lang="nb-NO" sz="2800" dirty="0">
              <a:cs typeface="Times New Roman" pitchFamily="18" charset="0"/>
            </a:endParaRPr>
          </a:p>
          <a:p>
            <a:r>
              <a:rPr lang="nb-NO" dirty="0">
                <a:cs typeface="Times New Roman" pitchFamily="18" charset="0"/>
              </a:rPr>
              <a:t>I normalperioden forbrukes det 2 000 maskintimer i tilvirkningsavdeling 2</a:t>
            </a:r>
          </a:p>
          <a:p>
            <a:endParaRPr lang="nb-NO" sz="2800" dirty="0">
              <a:cs typeface="Times New Roman" pitchFamily="18" charset="0"/>
            </a:endParaRPr>
          </a:p>
          <a:p>
            <a:pPr marL="912812" indent="-711200" eaLnBrk="1" hangingPunct="1"/>
            <a:endParaRPr lang="nb-NO" sz="2800" dirty="0">
              <a:cs typeface="Times New Roman" pitchFamily="18" charset="0"/>
            </a:endParaRPr>
          </a:p>
          <a:p>
            <a:endParaRPr lang="nb-NO" dirty="0"/>
          </a:p>
        </p:txBody>
      </p:sp>
      <p:pic>
        <p:nvPicPr>
          <p:cNvPr id="6" name="Picture 2">
            <a:extLst>
              <a:ext uri="{FF2B5EF4-FFF2-40B4-BE49-F238E27FC236}">
                <a16:creationId xmlns:a16="http://schemas.microsoft.com/office/drawing/2014/main" id="{5A15A1EF-E978-4FF2-BAF0-75774F7AD6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54154" y="3429000"/>
            <a:ext cx="6102350" cy="197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054331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4C6111F-F1B7-4743-BA32-730F321E9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selvkostmetoden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B184BE4B-5C5B-4EDD-A1B4-90824C51A4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1033502" cy="4606172"/>
          </a:xfrm>
        </p:spPr>
        <p:txBody>
          <a:bodyPr/>
          <a:lstStyle/>
          <a:p>
            <a:r>
              <a:rPr lang="nb-NO" sz="2800" dirty="0">
                <a:cs typeface="Times New Roman" pitchFamily="18" charset="0"/>
              </a:rPr>
              <a:t>Med utgangspunkt i driftsregnskapet til AS ØRA kan vi beregne normal-satsene (tilleggssatsene):</a:t>
            </a:r>
          </a:p>
          <a:p>
            <a:endParaRPr lang="nb-NO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0A448A83-F4C6-4C5A-9547-03381B707D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6935092"/>
              </p:ext>
            </p:extLst>
          </p:nvPr>
        </p:nvGraphicFramePr>
        <p:xfrm>
          <a:off x="1082299" y="2963708"/>
          <a:ext cx="10027402" cy="34680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103053">
                  <a:extLst>
                    <a:ext uri="{9D8B030D-6E8A-4147-A177-3AD203B41FA5}">
                      <a16:colId xmlns:a16="http://schemas.microsoft.com/office/drawing/2014/main" val="713329852"/>
                    </a:ext>
                  </a:extLst>
                </a:gridCol>
                <a:gridCol w="2214607">
                  <a:extLst>
                    <a:ext uri="{9D8B030D-6E8A-4147-A177-3AD203B41FA5}">
                      <a16:colId xmlns:a16="http://schemas.microsoft.com/office/drawing/2014/main" val="3124991663"/>
                    </a:ext>
                  </a:extLst>
                </a:gridCol>
                <a:gridCol w="527286">
                  <a:extLst>
                    <a:ext uri="{9D8B030D-6E8A-4147-A177-3AD203B41FA5}">
                      <a16:colId xmlns:a16="http://schemas.microsoft.com/office/drawing/2014/main" val="3266415594"/>
                    </a:ext>
                  </a:extLst>
                </a:gridCol>
                <a:gridCol w="1182456">
                  <a:extLst>
                    <a:ext uri="{9D8B030D-6E8A-4147-A177-3AD203B41FA5}">
                      <a16:colId xmlns:a16="http://schemas.microsoft.com/office/drawing/2014/main" val="2273001199"/>
                    </a:ext>
                  </a:extLst>
                </a:gridCol>
              </a:tblGrid>
              <a:tr h="589979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Indirekte kostnader materialavdeling = </a:t>
                      </a: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150 000 * 100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%</a:t>
                      </a:r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922499779"/>
                  </a:ext>
                </a:extLst>
              </a:tr>
              <a:tr h="393320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000 000</a:t>
                      </a:r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787622"/>
                  </a:ext>
                </a:extLst>
              </a:tr>
              <a:tr h="49165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Indirekte</a:t>
                      </a:r>
                      <a:r>
                        <a:rPr lang="nb-NO" sz="2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kostander tilvirkningsavdeling 1 = </a:t>
                      </a:r>
                      <a:endParaRPr lang="nb-NO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100 000 * 100 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252751162"/>
                  </a:ext>
                </a:extLst>
              </a:tr>
              <a:tr h="340778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500 000</a:t>
                      </a: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958911217"/>
                  </a:ext>
                </a:extLst>
              </a:tr>
              <a:tr h="445862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Indirekte kostander tilvirkningsavdeling 2 = </a:t>
                      </a: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210 000 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105,- kr/t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997901786"/>
                  </a:ext>
                </a:extLst>
              </a:tr>
              <a:tr h="353786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2 000</a:t>
                      </a: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016200613"/>
                  </a:ext>
                </a:extLst>
              </a:tr>
              <a:tr h="432853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Indirekte</a:t>
                      </a:r>
                      <a:r>
                        <a:rPr lang="nb-NO" sz="2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 kostander salgs- og </a:t>
                      </a:r>
                      <a:r>
                        <a:rPr lang="nb-NO" sz="2400" b="0" i="0" u="none" strike="noStrike" baseline="0" dirty="0" err="1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admavd</a:t>
                      </a:r>
                      <a:r>
                        <a:rPr lang="nb-NO" sz="24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Calibri" panose="020F0502020204030204" pitchFamily="34" charset="0"/>
                        </a:rPr>
                        <a:t>. =</a:t>
                      </a:r>
                      <a:endParaRPr lang="nb-NO" sz="2400" b="0" i="0" u="none" strike="noStrike" dirty="0">
                        <a:solidFill>
                          <a:schemeClr val="tx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532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000 * 100 </a:t>
                      </a:r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20 %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4085209255"/>
                  </a:ext>
                </a:extLst>
              </a:tr>
              <a:tr h="340778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2 660 0000</a:t>
                      </a: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1526315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5569737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E0B51C-3483-4064-8A7E-1E29C133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selvkostmetoden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4CE5B6-173F-422B-B605-DCE7758E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940512" cy="5032375"/>
          </a:xfrm>
        </p:spPr>
        <p:txBody>
          <a:bodyPr>
            <a:normAutofit/>
          </a:bodyPr>
          <a:lstStyle/>
          <a:p>
            <a:pPr marL="514350" indent="-457200"/>
            <a:r>
              <a:rPr lang="nb-NO" dirty="0">
                <a:cs typeface="Times New Roman" pitchFamily="18" charset="0"/>
              </a:rPr>
              <a:t>ØRA AS </a:t>
            </a:r>
            <a:r>
              <a:rPr lang="nb-NO" sz="2800" dirty="0">
                <a:cs typeface="Times New Roman" pitchFamily="18" charset="0"/>
              </a:rPr>
              <a:t>har mottatt en forespørsel om levering av en gitt produkt-ordre som kunden er villig til å betale kr. 200 000,- for</a:t>
            </a:r>
          </a:p>
          <a:p>
            <a:pPr marL="514350" indent="-457200"/>
            <a:r>
              <a:rPr lang="nb-NO" dirty="0">
                <a:cs typeface="Times New Roman" pitchFamily="18" charset="0"/>
              </a:rPr>
              <a:t>Man regner med følgende direkte kostnader og timeforbruk:</a:t>
            </a: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r>
              <a:rPr lang="nb-NO" sz="2800" dirty="0">
                <a:cs typeface="Times New Roman" pitchFamily="18" charset="0"/>
              </a:rPr>
              <a:t>Normalkalkulasjon av ordren etter selvkostmetoden blir (se neste foil):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257D4E03-1623-4B51-A2F7-75AD06B7D7F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55542402"/>
              </p:ext>
            </p:extLst>
          </p:nvPr>
        </p:nvGraphicFramePr>
        <p:xfrm>
          <a:off x="2780731" y="3607230"/>
          <a:ext cx="5112568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egneark" r:id="rId2" imgW="2266995" imgH="819021" progId="Excel.Sheet.8">
                  <p:embed/>
                </p:oleObj>
              </mc:Choice>
              <mc:Fallback>
                <p:oleObj name="Regneark" r:id="rId2" imgW="2266995" imgH="819021" progId="Excel.Sheet.8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257D4E03-1623-4B51-A2F7-75AD06B7D7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731" y="3607230"/>
                        <a:ext cx="5112568" cy="2232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4993601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503BC797-ECEB-4282-8C72-57A496AE9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nb-NO" dirty="0"/>
              <a:t>Eksempel normalkalkulasjon selvkostmetoden</a:t>
            </a:r>
          </a:p>
        </p:txBody>
      </p:sp>
      <p:graphicFrame>
        <p:nvGraphicFramePr>
          <p:cNvPr id="3" name="Plassholder for innhold 3">
            <a:extLst>
              <a:ext uri="{FF2B5EF4-FFF2-40B4-BE49-F238E27FC236}">
                <a16:creationId xmlns:a16="http://schemas.microsoft.com/office/drawing/2014/main" id="{6DA8780D-78D6-45A6-9711-234114090A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151754769"/>
              </p:ext>
            </p:extLst>
          </p:nvPr>
        </p:nvGraphicFramePr>
        <p:xfrm>
          <a:off x="1887905" y="1202235"/>
          <a:ext cx="822960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0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1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nb-NO" dirty="0" err="1"/>
                        <a:t>Tilleggskalyle</a:t>
                      </a:r>
                      <a:r>
                        <a:rPr lang="nb-NO" dirty="0"/>
                        <a:t> (selvkost) basert på normalsatser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Direkte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Direkte lønn avdeling 1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30 000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Direkte lønn avdeling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40 000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materialkostnader (50 000*0,15)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7 500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</a:t>
                      </a:r>
                      <a:r>
                        <a:rPr lang="nb-NO" dirty="0" err="1"/>
                        <a:t>tilv.kostnader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avd</a:t>
                      </a:r>
                      <a:r>
                        <a:rPr lang="nb-NO" dirty="0"/>
                        <a:t> 1 (30 000*0,2)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6 000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</a:t>
                      </a:r>
                      <a:r>
                        <a:rPr lang="nb-NO" dirty="0" err="1"/>
                        <a:t>tilv.kostnader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avd</a:t>
                      </a:r>
                      <a:r>
                        <a:rPr lang="nb-NO" dirty="0"/>
                        <a:t> 2 (100 timer *105,-)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10 500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/>
                        <a:t>Tilvirkningskost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b="1" dirty="0"/>
                        <a:t>144 000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salg og </a:t>
                      </a:r>
                      <a:r>
                        <a:rPr lang="nb-NO" dirty="0" err="1"/>
                        <a:t>adm</a:t>
                      </a:r>
                      <a:r>
                        <a:rPr lang="nb-NO" dirty="0"/>
                        <a:t> kost. (144 000*0,2)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28 800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/>
                        <a:t>Selvkost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b="1" dirty="0"/>
                        <a:t>172 800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Salgsinntekter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200 000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Selvkost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172 800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b="1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/>
                        <a:t>Fortjeneste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b="1" dirty="0"/>
                        <a:t>27 200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273668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92B71C43-091C-40C4-A274-D2F274EE47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bidragsmetoden</a:t>
            </a:r>
          </a:p>
        </p:txBody>
      </p:sp>
      <p:sp>
        <p:nvSpPr>
          <p:cNvPr id="3" name="Content Placeholder 1">
            <a:extLst>
              <a:ext uri="{FF2B5EF4-FFF2-40B4-BE49-F238E27FC236}">
                <a16:creationId xmlns:a16="http://schemas.microsoft.com/office/drawing/2014/main" id="{6E6BDB72-AEF2-437F-AB54-412FF80E74E5}"/>
              </a:ext>
            </a:extLst>
          </p:cNvPr>
          <p:cNvSpPr txBox="1">
            <a:spLocks/>
          </p:cNvSpPr>
          <p:nvPr/>
        </p:nvSpPr>
        <p:spPr>
          <a:xfrm>
            <a:off x="1677364" y="1842927"/>
            <a:ext cx="8229600" cy="45259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nb-NO" sz="2400" dirty="0">
                <a:cs typeface="Times New Roman" pitchFamily="18" charset="0"/>
              </a:rPr>
              <a:t>Driftsregnskapet for AS ØRA for en normalperiode: </a:t>
            </a:r>
          </a:p>
          <a:p>
            <a:endParaRPr lang="nb-NO" sz="1800" dirty="0">
              <a:cs typeface="Times New Roman" pitchFamily="18" charset="0"/>
            </a:endParaRPr>
          </a:p>
        </p:txBody>
      </p:sp>
      <p:graphicFrame>
        <p:nvGraphicFramePr>
          <p:cNvPr id="5" name="Tabell 4">
            <a:extLst>
              <a:ext uri="{FF2B5EF4-FFF2-40B4-BE49-F238E27FC236}">
                <a16:creationId xmlns:a16="http://schemas.microsoft.com/office/drawing/2014/main" id="{1D7F4FE3-E6AC-4C10-A961-5A0E8366D1E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0705611"/>
              </p:ext>
            </p:extLst>
          </p:nvPr>
        </p:nvGraphicFramePr>
        <p:xfrm>
          <a:off x="1759716" y="2462925"/>
          <a:ext cx="9197585" cy="4029950"/>
        </p:xfrm>
        <a:graphic>
          <a:graphicData uri="http://schemas.openxmlformats.org/drawingml/2006/table">
            <a:tbl>
              <a:tblPr/>
              <a:tblGrid>
                <a:gridCol w="55691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9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51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1" i="0" u="sng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BIDRAGSMETODEN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material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lønn </a:t>
                      </a:r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avd</a:t>
                      </a:r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500 000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Dir. lønn </a:t>
                      </a:r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avd</a:t>
                      </a:r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700 000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variable kostnader materialavdelingen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110 000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(= 150 000-40 000)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kostnader tilvirkningsavdeling 1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  70 000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(= 100 000-30 000)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Indirekte kostnader tilvirkningsavdeling 2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/>
                        </a:rPr>
                        <a:t>         140 000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(= 210 000-70 000)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Tilvirkningsmerkost</a:t>
                      </a:r>
                      <a:r>
                        <a:rPr lang="nb-NO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(variable tilvirkningskostnader)</a:t>
                      </a:r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2 520 000</a:t>
                      </a:r>
                      <a:r>
                        <a:rPr lang="nb-NO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</a:t>
                      </a:r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Indirekte kostnader salgs og administrasjons avd.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-  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(Bare faste)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2995">
                <a:tc>
                  <a:txBody>
                    <a:bodyPr/>
                    <a:lstStyle/>
                    <a:p>
                      <a:pPr algn="l" fontAlgn="b"/>
                      <a:r>
                        <a:rPr lang="nb-NO" sz="20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Salgsmerkost</a:t>
                      </a:r>
                      <a:r>
                        <a:rPr lang="nb-NO" sz="20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(Sum variable kostnader)</a:t>
                      </a:r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nb-NO" sz="20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2 520 000 </a:t>
                      </a: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fontAlgn="b"/>
                      <a:endParaRPr lang="nb-NO" sz="20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b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41877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208641D6-C2E2-4608-A80F-1678EB39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bidragsmetoden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C52D0E3-ED49-417C-8718-4F3F18C782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801027" cy="4667250"/>
          </a:xfrm>
        </p:spPr>
        <p:txBody>
          <a:bodyPr/>
          <a:lstStyle/>
          <a:p>
            <a:r>
              <a:rPr lang="nb-NO" sz="2800" dirty="0">
                <a:cs typeface="Times New Roman" pitchFamily="18" charset="0"/>
              </a:rPr>
              <a:t>Med utgangspunkt i driftsregnskapet til AS ØRA kan vi beregne normal-satsene (tilleggssatsene):</a:t>
            </a:r>
          </a:p>
          <a:p>
            <a:endParaRPr lang="nb-NO" dirty="0"/>
          </a:p>
        </p:txBody>
      </p:sp>
      <p:graphicFrame>
        <p:nvGraphicFramePr>
          <p:cNvPr id="4" name="Tabell 3">
            <a:extLst>
              <a:ext uri="{FF2B5EF4-FFF2-40B4-BE49-F238E27FC236}">
                <a16:creationId xmlns:a16="http://schemas.microsoft.com/office/drawing/2014/main" id="{BFBDAC6C-4B95-4250-94AE-B450C57C8D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8264443"/>
              </p:ext>
            </p:extLst>
          </p:nvPr>
        </p:nvGraphicFramePr>
        <p:xfrm>
          <a:off x="838198" y="2832184"/>
          <a:ext cx="10630548" cy="289444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470150">
                  <a:extLst>
                    <a:ext uri="{9D8B030D-6E8A-4147-A177-3AD203B41FA5}">
                      <a16:colId xmlns:a16="http://schemas.microsoft.com/office/drawing/2014/main" val="713329852"/>
                    </a:ext>
                  </a:extLst>
                </a:gridCol>
                <a:gridCol w="2347815">
                  <a:extLst>
                    <a:ext uri="{9D8B030D-6E8A-4147-A177-3AD203B41FA5}">
                      <a16:colId xmlns:a16="http://schemas.microsoft.com/office/drawing/2014/main" val="3124991663"/>
                    </a:ext>
                  </a:extLst>
                </a:gridCol>
                <a:gridCol w="559004">
                  <a:extLst>
                    <a:ext uri="{9D8B030D-6E8A-4147-A177-3AD203B41FA5}">
                      <a16:colId xmlns:a16="http://schemas.microsoft.com/office/drawing/2014/main" val="3266415594"/>
                    </a:ext>
                  </a:extLst>
                </a:gridCol>
                <a:gridCol w="1253579">
                  <a:extLst>
                    <a:ext uri="{9D8B030D-6E8A-4147-A177-3AD203B41FA5}">
                      <a16:colId xmlns:a16="http://schemas.microsoft.com/office/drawing/2014/main" val="2273001199"/>
                    </a:ext>
                  </a:extLst>
                </a:gridCol>
              </a:tblGrid>
              <a:tr h="652932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Indirekte variable kostnader materialavdeling = </a:t>
                      </a: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110 000* 100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11 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922499779"/>
                  </a:ext>
                </a:extLst>
              </a:tr>
              <a:tr h="435288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000 000</a:t>
                      </a:r>
                      <a:endParaRPr lang="nb-NO" sz="24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0787622"/>
                  </a:ext>
                </a:extLst>
              </a:tr>
              <a:tr h="544110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Indirekte</a:t>
                      </a:r>
                      <a:r>
                        <a:rPr lang="nb-NO" sz="2400" b="0" i="0" u="none" strike="noStrike" baseline="0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 variable kostander tilvirkningsavdeling 1 = </a:t>
                      </a:r>
                      <a:endParaRPr lang="nb-NO" sz="2400" b="0" i="0" u="none" strike="noStrike" dirty="0">
                        <a:solidFill>
                          <a:srgbClr val="FF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000</a:t>
                      </a:r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* 100 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</a:t>
                      </a:r>
                      <a:r>
                        <a:rPr lang="nb-NO" sz="2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</a:t>
                      </a:r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%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252751162"/>
                  </a:ext>
                </a:extLst>
              </a:tr>
              <a:tr h="377139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500 000</a:t>
                      </a: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958911217"/>
                  </a:ext>
                </a:extLst>
              </a:tr>
              <a:tr h="493436">
                <a:tc rowSpan="2">
                  <a:txBody>
                    <a:bodyPr/>
                    <a:lstStyle/>
                    <a:p>
                      <a:pPr algn="r" fontAlgn="ctr"/>
                      <a:r>
                        <a:rPr lang="nb-NO" sz="2400" b="0" i="0" u="none" strike="noStrike" dirty="0">
                          <a:solidFill>
                            <a:srgbClr val="FF0000"/>
                          </a:solidFill>
                          <a:effectLst/>
                          <a:latin typeface="Calibri" panose="020F0502020204030204" pitchFamily="34" charset="0"/>
                        </a:rPr>
                        <a:t>Indirekte variable kostander tilvirkningsavdeling 2 = </a:t>
                      </a:r>
                    </a:p>
                  </a:txBody>
                  <a:tcPr marL="5715" marR="68580" marT="5715" marB="0" anchor="ctr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140 000 </a:t>
                      </a:r>
                    </a:p>
                  </a:txBody>
                  <a:tcPr marL="5715" marR="5715" marT="5715" marB="0" anchor="b"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=</a:t>
                      </a:r>
                    </a:p>
                  </a:txBody>
                  <a:tcPr marL="5715" marR="5715" marT="5715" marB="0" anchor="ctr"/>
                </a:tc>
                <a:tc rowSpan="2">
                  <a:txBody>
                    <a:bodyPr/>
                    <a:lstStyle/>
                    <a:p>
                      <a:pPr algn="l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70,- kr/t</a:t>
                      </a:r>
                    </a:p>
                  </a:txBody>
                  <a:tcPr marL="5715" marR="5715" marT="5715" marB="0" anchor="ctr"/>
                </a:tc>
                <a:extLst>
                  <a:ext uri="{0D108BD9-81ED-4DB2-BD59-A6C34878D82A}">
                    <a16:rowId xmlns:a16="http://schemas.microsoft.com/office/drawing/2014/main" val="3997901786"/>
                  </a:ext>
                </a:extLst>
              </a:tr>
              <a:tr h="391536"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nb-NO" sz="2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2 000</a:t>
                      </a:r>
                    </a:p>
                  </a:txBody>
                  <a:tcPr marL="5715" marR="5715" marT="5715" marB="0" anchor="b"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 vMerge="1"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b"/>
                      <a:endParaRPr lang="nb-NO" sz="11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5715" marR="5715" marT="5715" marB="0" anchor="b"/>
                </a:tc>
                <a:extLst>
                  <a:ext uri="{0D108BD9-81ED-4DB2-BD59-A6C34878D82A}">
                    <a16:rowId xmlns:a16="http://schemas.microsoft.com/office/drawing/2014/main" val="301620061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100677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B0E0B51C-3483-4064-8A7E-1E29C133D0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Eksempel normalkalkulasjon bidragsmetoden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524CE5B6-173F-422B-B605-DCE7758ED4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40512" cy="5032375"/>
          </a:xfrm>
        </p:spPr>
        <p:txBody>
          <a:bodyPr>
            <a:normAutofit/>
          </a:bodyPr>
          <a:lstStyle/>
          <a:p>
            <a:pPr marL="514350" indent="-457200"/>
            <a:r>
              <a:rPr lang="nb-NO" dirty="0">
                <a:cs typeface="Times New Roman" pitchFamily="18" charset="0"/>
              </a:rPr>
              <a:t>ØRA AS </a:t>
            </a:r>
            <a:r>
              <a:rPr lang="nb-NO" sz="2800" dirty="0">
                <a:cs typeface="Times New Roman" pitchFamily="18" charset="0"/>
              </a:rPr>
              <a:t>har mottatt en forespørsel om levering av en gitt produkt-ordre som kunden er villig til å betale kr. 200 000,- for</a:t>
            </a:r>
          </a:p>
          <a:p>
            <a:pPr marL="514350" indent="-457200"/>
            <a:r>
              <a:rPr lang="nb-NO" dirty="0">
                <a:cs typeface="Times New Roman" pitchFamily="18" charset="0"/>
              </a:rPr>
              <a:t>Man regner med følgende direkte kostnader og timeforbruk:</a:t>
            </a: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endParaRPr lang="nb-NO" dirty="0">
              <a:cs typeface="Times New Roman" pitchFamily="18" charset="0"/>
            </a:endParaRPr>
          </a:p>
          <a:p>
            <a:pPr marL="514350" indent="-457200"/>
            <a:endParaRPr lang="nb-NO" sz="2800" dirty="0">
              <a:cs typeface="Times New Roman" pitchFamily="18" charset="0"/>
            </a:endParaRPr>
          </a:p>
          <a:p>
            <a:pPr marL="514350" indent="-457200"/>
            <a:r>
              <a:rPr lang="nb-NO" sz="2800" dirty="0">
                <a:cs typeface="Times New Roman" pitchFamily="18" charset="0"/>
              </a:rPr>
              <a:t>Normalkalkulasjon av ordren etter bidragsmetoden blir (se neste foil):</a:t>
            </a:r>
          </a:p>
        </p:txBody>
      </p:sp>
      <p:graphicFrame>
        <p:nvGraphicFramePr>
          <p:cNvPr id="4" name="Objekt 3">
            <a:extLst>
              <a:ext uri="{FF2B5EF4-FFF2-40B4-BE49-F238E27FC236}">
                <a16:creationId xmlns:a16="http://schemas.microsoft.com/office/drawing/2014/main" id="{257D4E03-1623-4B51-A2F7-75AD06B7D7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80731" y="3607230"/>
          <a:ext cx="5112568" cy="22322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Regneark" r:id="rId2" imgW="2266995" imgH="819021" progId="Excel.Sheet.8">
                  <p:embed/>
                </p:oleObj>
              </mc:Choice>
              <mc:Fallback>
                <p:oleObj name="Regneark" r:id="rId2" imgW="2266995" imgH="819021" progId="Excel.Sheet.8">
                  <p:embed/>
                  <p:pic>
                    <p:nvPicPr>
                      <p:cNvPr id="4" name="Objekt 3">
                        <a:extLst>
                          <a:ext uri="{FF2B5EF4-FFF2-40B4-BE49-F238E27FC236}">
                            <a16:creationId xmlns:a16="http://schemas.microsoft.com/office/drawing/2014/main" id="{257D4E03-1623-4B51-A2F7-75AD06B7D7F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80731" y="3607230"/>
                        <a:ext cx="5112568" cy="223224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2543697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7FDE37F5-38AF-4B32-93DF-DF06FA7FCC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nb-NO" dirty="0"/>
              <a:t>Eksempel normalkalkulasjon bidragsmetoden</a:t>
            </a:r>
          </a:p>
        </p:txBody>
      </p:sp>
      <p:graphicFrame>
        <p:nvGraphicFramePr>
          <p:cNvPr id="3" name="Plassholder for innhold 3">
            <a:extLst>
              <a:ext uri="{FF2B5EF4-FFF2-40B4-BE49-F238E27FC236}">
                <a16:creationId xmlns:a16="http://schemas.microsoft.com/office/drawing/2014/main" id="{BBFFAA3A-D04F-4610-9D62-CC8B94883C5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52400214"/>
              </p:ext>
            </p:extLst>
          </p:nvPr>
        </p:nvGraphicFramePr>
        <p:xfrm>
          <a:off x="1802663" y="1178988"/>
          <a:ext cx="8229600" cy="55626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8803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203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2122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nb-NO" dirty="0" err="1"/>
                        <a:t>Tilleggskalyle</a:t>
                      </a:r>
                      <a:r>
                        <a:rPr lang="nb-NO" dirty="0"/>
                        <a:t> (bidragsmetoden) basert på normalsatser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nb-NO" dirty="0"/>
                        <a:t>Direkte material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50 000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Direkte lønn avdeling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30 000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Direkte lønn avdeling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40 000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var materialkostnader (50000*0,11)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5 500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var </a:t>
                      </a:r>
                      <a:r>
                        <a:rPr lang="nb-NO" dirty="0" err="1"/>
                        <a:t>tilv.kostnader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avd</a:t>
                      </a:r>
                      <a:r>
                        <a:rPr lang="nb-NO" dirty="0"/>
                        <a:t> 1 (30000*0,14)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4 200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var </a:t>
                      </a:r>
                      <a:r>
                        <a:rPr lang="nb-NO" dirty="0" err="1"/>
                        <a:t>tilv.kostnader</a:t>
                      </a:r>
                      <a:r>
                        <a:rPr lang="nb-NO" dirty="0"/>
                        <a:t> </a:t>
                      </a:r>
                      <a:r>
                        <a:rPr lang="nb-NO" dirty="0" err="1"/>
                        <a:t>avd</a:t>
                      </a:r>
                      <a:r>
                        <a:rPr lang="nb-NO" dirty="0"/>
                        <a:t> 2 (100 t * 70,-)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7 000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b="1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 err="1"/>
                        <a:t>Tilvirkningsmerkost</a:t>
                      </a:r>
                      <a:r>
                        <a:rPr lang="nb-NO" b="1" baseline="0" dirty="0"/>
                        <a:t> (Variable tilvirkningskost)</a:t>
                      </a:r>
                      <a:endParaRPr lang="nb-N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b="1" dirty="0"/>
                        <a:t>136 700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Indirekte var salg og </a:t>
                      </a:r>
                      <a:r>
                        <a:rPr lang="nb-NO" dirty="0" err="1"/>
                        <a:t>adm</a:t>
                      </a:r>
                      <a:r>
                        <a:rPr lang="nb-NO" dirty="0"/>
                        <a:t> kost.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b="1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b="1" dirty="0" err="1"/>
                        <a:t>Salgs</a:t>
                      </a:r>
                      <a:r>
                        <a:rPr lang="nb-NO" b="1" baseline="0" dirty="0" err="1"/>
                        <a:t>merkost</a:t>
                      </a:r>
                      <a:r>
                        <a:rPr lang="nb-NO" b="1" baseline="0" dirty="0"/>
                        <a:t> (sum variable kostnader)</a:t>
                      </a:r>
                      <a:endParaRPr lang="nb-NO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b="1" dirty="0"/>
                        <a:t>136 700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endParaRPr lang="nb-N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Salgsinntekter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200 000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 err="1"/>
                        <a:t>Salgsmerkost</a:t>
                      </a:r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136 700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nb-NO" dirty="0"/>
                        <a:t>=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nb-NO" dirty="0"/>
                        <a:t>Dekningsbidrag</a:t>
                      </a:r>
                      <a:r>
                        <a:rPr lang="nb-NO" baseline="0" dirty="0"/>
                        <a:t> (Fortjeneste + Faste kostnader)</a:t>
                      </a:r>
                      <a:endParaRPr lang="nb-N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nb-NO" dirty="0"/>
                        <a:t>63 300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523924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tel 1">
            <a:extLst>
              <a:ext uri="{FF2B5EF4-FFF2-40B4-BE49-F238E27FC236}">
                <a16:creationId xmlns:a16="http://schemas.microsoft.com/office/drawing/2014/main" id="{F8AAD8BA-9AF7-4DDC-9A28-EE00622A5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b-NO" dirty="0"/>
              <a:t>Anbefalte oppgaver</a:t>
            </a:r>
          </a:p>
        </p:txBody>
      </p:sp>
      <p:sp>
        <p:nvSpPr>
          <p:cNvPr id="3" name="Plassholder for innhold 2">
            <a:extLst>
              <a:ext uri="{FF2B5EF4-FFF2-40B4-BE49-F238E27FC236}">
                <a16:creationId xmlns:a16="http://schemas.microsoft.com/office/drawing/2014/main" id="{40B7B670-5E53-4FB9-8F53-9523B540CF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nb-NO" dirty="0"/>
              <a:t>Oppgave 3.2, 3.4 og 3.7 i Driftsregnskap og budsjettering</a:t>
            </a:r>
          </a:p>
        </p:txBody>
      </p:sp>
    </p:spTree>
    <p:extLst>
      <p:ext uri="{BB962C8B-B14F-4D97-AF65-F5344CB8AC3E}">
        <p14:creationId xmlns:p14="http://schemas.microsoft.com/office/powerpoint/2010/main" val="34139075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229DCE196279E49AC0F857102006034" ma:contentTypeVersion="10" ma:contentTypeDescription="Opprett et nytt dokument." ma:contentTypeScope="" ma:versionID="5de0924804f5ee4331aa2afa52066465">
  <xsd:schema xmlns:xsd="http://www.w3.org/2001/XMLSchema" xmlns:xs="http://www.w3.org/2001/XMLSchema" xmlns:p="http://schemas.microsoft.com/office/2006/metadata/properties" xmlns:ns3="10e5f221-54d5-4772-8fd4-a2bacb471014" targetNamespace="http://schemas.microsoft.com/office/2006/metadata/properties" ma:root="true" ma:fieldsID="d9955349edfd15ac4eee8673d066b232" ns3:_="">
    <xsd:import namespace="10e5f221-54d5-4772-8fd4-a2bacb471014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ServiceOCR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0e5f221-54d5-4772-8fd4-a2bacb47101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4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5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nholdstype"/>
        <xsd:element ref="dc:title" minOccurs="0" maxOccurs="1" ma:index="4" ma:displayName="Tit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D663A7A-ED7F-4C92-8E97-20AEC376176A}">
  <ds:schemaRefs>
    <ds:schemaRef ds:uri="http://schemas.microsoft.com/office/2006/metadata/properties"/>
    <ds:schemaRef ds:uri="10e5f221-54d5-4772-8fd4-a2bacb471014"/>
    <ds:schemaRef ds:uri="http://purl.org/dc/terms/"/>
    <ds:schemaRef ds:uri="http://schemas.openxmlformats.org/package/2006/metadata/core-properties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purl.org/dc/elements/1.1/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F415F958-041E-4167-96DA-B627C320A4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0e5f221-54d5-4772-8fd4-a2bacb471014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BA7FE42-6E0D-41F0-B5ED-6E3D634D25FA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3134</TotalTime>
  <Words>1304</Words>
  <Application>Microsoft Office PowerPoint</Application>
  <PresentationFormat>Widescreen</PresentationFormat>
  <Paragraphs>306</Paragraphs>
  <Slides>24</Slides>
  <Notes>0</Notes>
  <HiddenSlides>0</HiddenSlides>
  <MMClips>0</MMClips>
  <ScaleCrop>false</ScaleCrop>
  <HeadingPairs>
    <vt:vector size="8" baseType="variant">
      <vt:variant>
        <vt:lpstr>Brukte skrifter</vt:lpstr>
      </vt:variant>
      <vt:variant>
        <vt:i4>4</vt:i4>
      </vt:variant>
      <vt:variant>
        <vt:lpstr>Tema</vt:lpstr>
      </vt:variant>
      <vt:variant>
        <vt:i4>1</vt:i4>
      </vt:variant>
      <vt:variant>
        <vt:lpstr>Innebygde OLE-servere</vt:lpstr>
      </vt:variant>
      <vt:variant>
        <vt:i4>1</vt:i4>
      </vt:variant>
      <vt:variant>
        <vt:lpstr>Lysbildetitler</vt:lpstr>
      </vt:variant>
      <vt:variant>
        <vt:i4>24</vt:i4>
      </vt:variant>
    </vt:vector>
  </HeadingPairs>
  <TitlesOfParts>
    <vt:vector size="30" baseType="lpstr">
      <vt:lpstr>Arial</vt:lpstr>
      <vt:lpstr>Calibri</vt:lpstr>
      <vt:lpstr>Calibri Light</vt:lpstr>
      <vt:lpstr>Cambria Math</vt:lpstr>
      <vt:lpstr>Office-tema</vt:lpstr>
      <vt:lpstr>Regneark</vt:lpstr>
      <vt:lpstr>3. Kalkyler i produksjonsbedrifter</vt:lpstr>
      <vt:lpstr>Pensum</vt:lpstr>
      <vt:lpstr>Produksjonsbedrifter</vt:lpstr>
      <vt:lpstr>Kostnadssteder, kostnadsbærere og kostnadsarter</vt:lpstr>
      <vt:lpstr>Kostnadssted og kostnadsbærer</vt:lpstr>
      <vt:lpstr>Kostnadsarter</vt:lpstr>
      <vt:lpstr>Kalkyler </vt:lpstr>
      <vt:lpstr>Kalkyle</vt:lpstr>
      <vt:lpstr>Selvkostkalkyle i produksjonsbedrift</vt:lpstr>
      <vt:lpstr>Bidragskalkyle i produksjonsbedrift</vt:lpstr>
      <vt:lpstr>Kostnadsfordeling og driftsregnskap i industribedrifter</vt:lpstr>
      <vt:lpstr>Tilleggssatser</vt:lpstr>
      <vt:lpstr>Normalsatser</vt:lpstr>
      <vt:lpstr>Selvkostmetoden vs Bidragsmetoden</vt:lpstr>
      <vt:lpstr>Eksempel normalkalkulasjon selvkostmetoden</vt:lpstr>
      <vt:lpstr>Eksempel normalkalkulasjon selvkostmetoden</vt:lpstr>
      <vt:lpstr>Eksempel normalkalkulasjon selvkostmetoden</vt:lpstr>
      <vt:lpstr>Eksempel normalkalkulasjon selvkostmetoden</vt:lpstr>
      <vt:lpstr>Eksempel normalkalkulasjon selvkostmetoden</vt:lpstr>
      <vt:lpstr>Eksempel normalkalkulasjon bidragsmetoden</vt:lpstr>
      <vt:lpstr>Eksempel normalkalkulasjon bidragsmetoden</vt:lpstr>
      <vt:lpstr>Eksempel normalkalkulasjon bidragsmetoden</vt:lpstr>
      <vt:lpstr>Eksempel normalkalkulasjon bidragsmetoden</vt:lpstr>
      <vt:lpstr>Anbefalte oppgaver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Kalkyler i produksjonsbedrifter</dc:title>
  <dc:creator>Øyvind Sunde</dc:creator>
  <cp:lastModifiedBy>Øyvind Sunde</cp:lastModifiedBy>
  <cp:revision>28</cp:revision>
  <dcterms:created xsi:type="dcterms:W3CDTF">2021-01-06T14:21:46Z</dcterms:created>
  <dcterms:modified xsi:type="dcterms:W3CDTF">2022-01-07T06:20:30Z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0x010100B229DCE196279E49AC0F857102006034</vt:lpwstr>
  </property>
</Properties>
</file>