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0" r:id="rId4"/>
    <p:sldId id="349" r:id="rId5"/>
    <p:sldId id="258" r:id="rId6"/>
    <p:sldId id="351" r:id="rId7"/>
    <p:sldId id="257" r:id="rId8"/>
    <p:sldId id="263" r:id="rId9"/>
    <p:sldId id="259" r:id="rId10"/>
    <p:sldId id="348" r:id="rId11"/>
    <p:sldId id="347" r:id="rId12"/>
    <p:sldId id="264" r:id="rId13"/>
    <p:sldId id="265" r:id="rId14"/>
    <p:sldId id="266" r:id="rId15"/>
    <p:sldId id="267" r:id="rId16"/>
    <p:sldId id="350" r:id="rId17"/>
    <p:sldId id="260" r:id="rId18"/>
    <p:sldId id="261" r:id="rId19"/>
    <p:sldId id="262" r:id="rId20"/>
    <p:sldId id="357" r:id="rId21"/>
    <p:sldId id="358" r:id="rId22"/>
    <p:sldId id="359" r:id="rId23"/>
    <p:sldId id="360" r:id="rId24"/>
    <p:sldId id="352" r:id="rId25"/>
    <p:sldId id="269" r:id="rId26"/>
  </p:sldIdLst>
  <p:sldSz cx="12192000" cy="6858000"/>
  <p:notesSz cx="9926638" cy="6797675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377BA-1251-4861-A62E-FB0E0C723597}" v="5" dt="2025-01-11T10:22:59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Øyvind Sunde" userId="4988c3c6-0fd5-4f1d-9969-c9e164673b47" providerId="ADAL" clId="{C64377BA-1251-4861-A62E-FB0E0C723597}"/>
    <pc:docChg chg="modSld">
      <pc:chgData name="Øyvind Sunde" userId="4988c3c6-0fd5-4f1d-9969-c9e164673b47" providerId="ADAL" clId="{C64377BA-1251-4861-A62E-FB0E0C723597}" dt="2025-01-11T10:23:07.027" v="5" actId="14100"/>
      <pc:docMkLst>
        <pc:docMk/>
      </pc:docMkLst>
      <pc:sldChg chg="addSp modSp mod">
        <pc:chgData name="Øyvind Sunde" userId="4988c3c6-0fd5-4f1d-9969-c9e164673b47" providerId="ADAL" clId="{C64377BA-1251-4861-A62E-FB0E0C723597}" dt="2025-01-11T10:23:07.027" v="5" actId="14100"/>
        <pc:sldMkLst>
          <pc:docMk/>
          <pc:sldMk cId="2521882564" sldId="266"/>
        </pc:sldMkLst>
        <pc:spChg chg="add mod">
          <ac:chgData name="Øyvind Sunde" userId="4988c3c6-0fd5-4f1d-9969-c9e164673b47" providerId="ADAL" clId="{C64377BA-1251-4861-A62E-FB0E0C723597}" dt="2025-01-11T10:23:07.027" v="5" actId="14100"/>
          <ac:spMkLst>
            <pc:docMk/>
            <pc:sldMk cId="2521882564" sldId="266"/>
            <ac:spMk id="4" creationId="{69510D62-2510-5B78-99C8-406EF8F66D64}"/>
          </ac:spMkLst>
        </pc:spChg>
      </pc:sldChg>
    </pc:docChg>
  </pc:docChgLst>
  <pc:docChgLst>
    <pc:chgData name="Øyvind Sunde" userId="4988c3c6-0fd5-4f1d-9969-c9e164673b47" providerId="ADAL" clId="{551F637A-783A-4B66-8123-58FE4CEE0F7F}"/>
    <pc:docChg chg="modSld">
      <pc:chgData name="Øyvind Sunde" userId="4988c3c6-0fd5-4f1d-9969-c9e164673b47" providerId="ADAL" clId="{551F637A-783A-4B66-8123-58FE4CEE0F7F}" dt="2022-01-07T06:19:17.417" v="42" actId="20577"/>
      <pc:docMkLst>
        <pc:docMk/>
      </pc:docMkLst>
      <pc:sldChg chg="modSp mod">
        <pc:chgData name="Øyvind Sunde" userId="4988c3c6-0fd5-4f1d-9969-c9e164673b47" providerId="ADAL" clId="{551F637A-783A-4B66-8123-58FE4CEE0F7F}" dt="2022-01-07T06:19:17.417" v="42" actId="20577"/>
        <pc:sldMkLst>
          <pc:docMk/>
          <pc:sldMk cId="1544028678" sldId="256"/>
        </pc:sldMkLst>
      </pc:sldChg>
      <pc:sldChg chg="modSp">
        <pc:chgData name="Øyvind Sunde" userId="4988c3c6-0fd5-4f1d-9969-c9e164673b47" providerId="ADAL" clId="{551F637A-783A-4B66-8123-58FE4CEE0F7F}" dt="2022-01-06T19:18:46.960" v="8" actId="6549"/>
        <pc:sldMkLst>
          <pc:docMk/>
          <pc:sldMk cId="305940648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59DF79-BFBF-44C6-91C4-3FCDB3626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1057718-263B-43D0-9F6F-9285FF6D7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C0B9B60-F526-43CD-96D4-7A00B520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B8DA5DF-9D0E-424F-9BC9-66577ECE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968EF3E-0DA0-4F47-A226-743F87EA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08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69893A-286A-4434-A16D-A2D429C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A542C2F-925D-4012-B6B1-F42E49A8C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98413E8-D07C-4BCE-ADE5-1EB3DB40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5CE4099-264D-465D-8B6C-C1E5B103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3838D23-8FAF-4287-ACAA-4A38E8D1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358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D5C785B-C013-4EC7-ABEE-B6DD7F3F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EBA36B8-5A53-41CD-93C9-4859908ED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8FE132F-6B7B-4533-9F80-2E6361EF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2B9EE44-B8DB-4BD6-A0E2-967A1C17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F313F73-DCF3-499F-A5E5-506FB268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6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1E09FE4-83C4-4379-997F-35AE7198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D706E04-E1F1-4229-8D8B-21FC5063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B783A42-E257-40E5-8B99-9756BF998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180C5F4-FD5D-49DF-AE10-DA67A54F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C221246-D3EE-406F-AE1D-A891F63F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3AFE9D8-F047-433E-A397-01842EAF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715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82A7B9-EA71-4416-950E-33F04189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5696DC3-5B66-4F24-93DE-2C61479A7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4866CCC-D758-47F8-A705-2C6DFC2E8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E841386-E515-4E3B-8F16-6AD7F7522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1FB42463-0419-4B68-A062-E027ABA60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A94765F-9C8F-4AB1-98D2-578DD1DC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8550AAED-39C8-464F-90FA-5F7E68AA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EE15675D-CFA7-46E2-B806-D55C18A5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126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C71BE1E-921B-494D-B4CF-E612E2F1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189CEB9-E2B3-4B28-8FF5-6EE0B562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878A630-2AEC-454C-8FEC-3035DCD2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78B701B-5E5B-4925-B886-3CB0229A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069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18D6D19E-CD15-43D0-A803-92C175FC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7671C8E-46CB-487F-88D8-2744FC80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F07D998-6E29-4D80-972E-1795EA70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731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4BF5BFE-184E-4159-98E0-CA46D4B6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58A1F9-547F-4677-B591-576C92531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FFBF821-7EB0-4C7D-9094-60362708E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D2A5660-72CA-43BD-BDF3-5531E152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A9BA027-F157-4260-BEFF-D628A295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BDF96B5-DCE1-43BA-89E9-0A4BF23A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289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BEA0F5-C1F6-4FE0-959B-34E3AFC3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C7784AEE-AD05-47CB-A45D-A5B8FAF08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9F2F6F9-73E1-49FB-AAFF-20CD77567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B7D3A35-93D5-4236-B02E-79F5E984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FE16351-AE3F-4628-ADC6-AC151695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63D2FD1-49A7-4F2E-A679-B242BC3F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626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C293731-79A8-4376-90FB-99A94040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B67825F-99ED-4CC4-8880-4DE6A45E3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73A55E8-EC74-4BE8-9D46-50D60545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3555767-5C17-442A-A656-46941C6B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7FF8955-C652-4FAF-8A33-80FBEE57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682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71DEF7F4-9903-4A48-A6B8-0C92B1C6F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88B5B383-B192-4C88-B299-E778469D7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383CB85-3F1D-4BA0-AFAB-88BFEFE2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0E54C0B-C5DF-4B70-A52B-CC3D2B90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0AFAACC-63E6-4082-93A5-3FD3FCA1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585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8CC686F2-CEEE-49C1-BC37-B231E325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9FDB4FB-6BD8-48C5-A9C3-26E63FEAB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A91BA20-F45B-43CD-90BD-505CC115F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41C5A-EDE5-4C5F-B9B5-6FC0F579509F}" type="datetimeFigureOut">
              <a:rPr lang="nb-NO" smtClean="0"/>
              <a:t>11.01.2025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AA9D18C-DDE0-470A-A59E-4CA69559D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8BD3D39-9C07-41F0-94A4-19CAB0322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5339F-7FC6-4E7D-BAAF-1340F432E79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0327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975F73-12F9-4212-87C8-9CE397637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125" y="1122363"/>
            <a:ext cx="11782425" cy="2387600"/>
          </a:xfrm>
        </p:spPr>
        <p:txBody>
          <a:bodyPr>
            <a:normAutofit/>
          </a:bodyPr>
          <a:lstStyle/>
          <a:p>
            <a:r>
              <a:rPr lang="nb-NO" dirty="0"/>
              <a:t>2. Kalkyler, kostnadsfordeling og driftsregnskap i varehandelsbedrifter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72ACC5C-11ED-4839-9AD4-DB15B1FA5C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BØA 205 campus Bergen</a:t>
            </a:r>
          </a:p>
        </p:txBody>
      </p:sp>
    </p:spTree>
    <p:extLst>
      <p:ext uri="{BB962C8B-B14F-4D97-AF65-F5344CB8AC3E}">
        <p14:creationId xmlns:p14="http://schemas.microsoft.com/office/powerpoint/2010/main" val="154402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99E4915-5295-4024-83B5-F5061A02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Pensum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C9BE345-02CD-4787-9711-E1ECE7104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Kapittel 2 i Driftsregnskap og budsjettering</a:t>
            </a:r>
          </a:p>
        </p:txBody>
      </p:sp>
    </p:spTree>
    <p:extLst>
      <p:ext uri="{BB962C8B-B14F-4D97-AF65-F5344CB8AC3E}">
        <p14:creationId xmlns:p14="http://schemas.microsoft.com/office/powerpoint/2010/main" val="212899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1C74BC-6051-4DD5-843F-E106C406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Varehandelsbedrifter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8B06623-ADDD-4FE0-94AE-8E03CE165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72" y="1764665"/>
            <a:ext cx="10515600" cy="4351338"/>
          </a:xfrm>
        </p:spPr>
        <p:txBody>
          <a:bodyPr/>
          <a:lstStyle/>
          <a:p>
            <a:r>
              <a:rPr lang="nb-NO" dirty="0"/>
              <a:t>Varehandelsbedrifter kjøper inn varer for salg</a:t>
            </a:r>
          </a:p>
          <a:p>
            <a:r>
              <a:rPr lang="nb-NO" dirty="0"/>
              <a:t>Varehandelsbedrifter kan ha mange produkter og flere avdelinger</a:t>
            </a:r>
          </a:p>
        </p:txBody>
      </p:sp>
      <p:sp>
        <p:nvSpPr>
          <p:cNvPr id="4" name="Avrundet rektangel 9">
            <a:extLst>
              <a:ext uri="{FF2B5EF4-FFF2-40B4-BE49-F238E27FC236}">
                <a16:creationId xmlns:a16="http://schemas.microsoft.com/office/drawing/2014/main" id="{E9CCF3F2-E58C-4223-81B8-4AADD55EB118}"/>
              </a:ext>
            </a:extLst>
          </p:cNvPr>
          <p:cNvSpPr/>
          <p:nvPr/>
        </p:nvSpPr>
        <p:spPr>
          <a:xfrm>
            <a:off x="539527" y="4088894"/>
            <a:ext cx="1979335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Leverandører</a:t>
            </a:r>
          </a:p>
        </p:txBody>
      </p:sp>
      <p:sp>
        <p:nvSpPr>
          <p:cNvPr id="5" name="Avrundet rektangel 13">
            <a:extLst>
              <a:ext uri="{FF2B5EF4-FFF2-40B4-BE49-F238E27FC236}">
                <a16:creationId xmlns:a16="http://schemas.microsoft.com/office/drawing/2014/main" id="{EFED15BD-7988-49A0-BB20-4B06142C8AA2}"/>
              </a:ext>
            </a:extLst>
          </p:cNvPr>
          <p:cNvSpPr/>
          <p:nvPr/>
        </p:nvSpPr>
        <p:spPr>
          <a:xfrm>
            <a:off x="9344399" y="4154063"/>
            <a:ext cx="192024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Kunder</a:t>
            </a:r>
          </a:p>
        </p:txBody>
      </p:sp>
      <p:sp>
        <p:nvSpPr>
          <p:cNvPr id="6" name="Avrundet rektangel 59">
            <a:extLst>
              <a:ext uri="{FF2B5EF4-FFF2-40B4-BE49-F238E27FC236}">
                <a16:creationId xmlns:a16="http://schemas.microsoft.com/office/drawing/2014/main" id="{52AECC9E-D43F-4B7B-8C92-C2A6DFA8217F}"/>
              </a:ext>
            </a:extLst>
          </p:cNvPr>
          <p:cNvSpPr/>
          <p:nvPr/>
        </p:nvSpPr>
        <p:spPr>
          <a:xfrm>
            <a:off x="3664591" y="4126658"/>
            <a:ext cx="1713424" cy="80633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bg1"/>
                </a:solidFill>
              </a:rPr>
              <a:t>Varelager</a:t>
            </a:r>
          </a:p>
        </p:txBody>
      </p:sp>
      <p:sp>
        <p:nvSpPr>
          <p:cNvPr id="7" name="Avrundet rektangel 60">
            <a:extLst>
              <a:ext uri="{FF2B5EF4-FFF2-40B4-BE49-F238E27FC236}">
                <a16:creationId xmlns:a16="http://schemas.microsoft.com/office/drawing/2014/main" id="{1337C407-C0AA-4E75-ACBA-251386BF5B8B}"/>
              </a:ext>
            </a:extLst>
          </p:cNvPr>
          <p:cNvSpPr/>
          <p:nvPr/>
        </p:nvSpPr>
        <p:spPr>
          <a:xfrm>
            <a:off x="5905846" y="4126658"/>
            <a:ext cx="2310934" cy="8063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bg1"/>
                </a:solidFill>
              </a:rPr>
              <a:t>Salg, adm. </a:t>
            </a:r>
            <a:r>
              <a:rPr lang="nb-NO" sz="2400" dirty="0" err="1">
                <a:solidFill>
                  <a:schemeClr val="bg1"/>
                </a:solidFill>
              </a:rPr>
              <a:t>etc</a:t>
            </a:r>
            <a:endParaRPr lang="nb-NO" sz="2400" dirty="0">
              <a:solidFill>
                <a:schemeClr val="bg1"/>
              </a:solidFill>
            </a:endParaRPr>
          </a:p>
        </p:txBody>
      </p:sp>
      <p:sp>
        <p:nvSpPr>
          <p:cNvPr id="8" name="Pil ned 61">
            <a:extLst>
              <a:ext uri="{FF2B5EF4-FFF2-40B4-BE49-F238E27FC236}">
                <a16:creationId xmlns:a16="http://schemas.microsoft.com/office/drawing/2014/main" id="{C121AF77-E478-446C-943E-C003C0AD2D4B}"/>
              </a:ext>
            </a:extLst>
          </p:cNvPr>
          <p:cNvSpPr/>
          <p:nvPr/>
        </p:nvSpPr>
        <p:spPr>
          <a:xfrm rot="16200000">
            <a:off x="5482573" y="4260072"/>
            <a:ext cx="318078" cy="527193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Pil høyre 62">
            <a:extLst>
              <a:ext uri="{FF2B5EF4-FFF2-40B4-BE49-F238E27FC236}">
                <a16:creationId xmlns:a16="http://schemas.microsoft.com/office/drawing/2014/main" id="{E9FCCCE9-F991-4128-8CC5-9DDED4F20C1A}"/>
              </a:ext>
            </a:extLst>
          </p:cNvPr>
          <p:cNvSpPr/>
          <p:nvPr/>
        </p:nvSpPr>
        <p:spPr>
          <a:xfrm>
            <a:off x="2518862" y="4069084"/>
            <a:ext cx="1145090" cy="4988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Varer</a:t>
            </a:r>
          </a:p>
        </p:txBody>
      </p:sp>
      <p:sp>
        <p:nvSpPr>
          <p:cNvPr id="10" name="Pil venstre 63">
            <a:extLst>
              <a:ext uri="{FF2B5EF4-FFF2-40B4-BE49-F238E27FC236}">
                <a16:creationId xmlns:a16="http://schemas.microsoft.com/office/drawing/2014/main" id="{3257BC18-18D1-43CC-9E3D-4017632B14DD}"/>
              </a:ext>
            </a:extLst>
          </p:cNvPr>
          <p:cNvSpPr/>
          <p:nvPr/>
        </p:nvSpPr>
        <p:spPr>
          <a:xfrm>
            <a:off x="2497626" y="4465839"/>
            <a:ext cx="1166326" cy="4933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Betaling</a:t>
            </a:r>
          </a:p>
        </p:txBody>
      </p:sp>
      <p:sp>
        <p:nvSpPr>
          <p:cNvPr id="11" name="Pil høyre 64">
            <a:extLst>
              <a:ext uri="{FF2B5EF4-FFF2-40B4-BE49-F238E27FC236}">
                <a16:creationId xmlns:a16="http://schemas.microsoft.com/office/drawing/2014/main" id="{FDBD2577-A978-4FDB-B05B-C5D1316BFAD6}"/>
              </a:ext>
            </a:extLst>
          </p:cNvPr>
          <p:cNvSpPr/>
          <p:nvPr/>
        </p:nvSpPr>
        <p:spPr>
          <a:xfrm>
            <a:off x="8212297" y="4107977"/>
            <a:ext cx="1145090" cy="4988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Varer</a:t>
            </a:r>
          </a:p>
        </p:txBody>
      </p:sp>
      <p:sp>
        <p:nvSpPr>
          <p:cNvPr id="12" name="Pil venstre 65">
            <a:extLst>
              <a:ext uri="{FF2B5EF4-FFF2-40B4-BE49-F238E27FC236}">
                <a16:creationId xmlns:a16="http://schemas.microsoft.com/office/drawing/2014/main" id="{C1FB43ED-F9DE-4CAB-968A-ABD5AC8D48B2}"/>
              </a:ext>
            </a:extLst>
          </p:cNvPr>
          <p:cNvSpPr/>
          <p:nvPr/>
        </p:nvSpPr>
        <p:spPr>
          <a:xfrm>
            <a:off x="8191061" y="4504732"/>
            <a:ext cx="1166326" cy="4933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Betaling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371BFC0E-B18E-486F-A6A9-73EDD00C341B}"/>
              </a:ext>
            </a:extLst>
          </p:cNvPr>
          <p:cNvSpPr/>
          <p:nvPr/>
        </p:nvSpPr>
        <p:spPr>
          <a:xfrm>
            <a:off x="3630774" y="3851158"/>
            <a:ext cx="4632323" cy="1229361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202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A3D07C-FFCB-4167-83B5-1A26039F7A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Kostnadsarter</a:t>
            </a:r>
          </a:p>
        </p:txBody>
      </p:sp>
    </p:spTree>
    <p:extLst>
      <p:ext uri="{BB962C8B-B14F-4D97-AF65-F5344CB8AC3E}">
        <p14:creationId xmlns:p14="http://schemas.microsoft.com/office/powerpoint/2010/main" val="3114016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B0CA0DB-BD3E-4EBC-B432-C6C3DD9D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Kostnadsarter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2D51CB5-F8E6-4970-9E7F-95C0EB86A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I tillegg til å skille mellom variable og faste kostnader (jfr. innføring i bedriftsøkonomi og regnskap) skiller vi mellom:</a:t>
            </a:r>
          </a:p>
          <a:p>
            <a:r>
              <a:rPr lang="nb-NO" u="sng" dirty="0"/>
              <a:t>Direkte kostnader</a:t>
            </a:r>
            <a:r>
              <a:rPr lang="nb-NO" dirty="0"/>
              <a:t> - kostnader som er direkte knyttet til produktet</a:t>
            </a:r>
          </a:p>
          <a:p>
            <a:pPr lvl="1"/>
            <a:r>
              <a:rPr lang="nb-NO" dirty="0"/>
              <a:t>Eksempel: Kostnader knyttet til kjøp av en bestemt vare</a:t>
            </a:r>
          </a:p>
          <a:p>
            <a:pPr lvl="1"/>
            <a:r>
              <a:rPr lang="nb-NO" dirty="0"/>
              <a:t>Direkte kostnader er variable kostnader</a:t>
            </a:r>
          </a:p>
          <a:p>
            <a:r>
              <a:rPr lang="nb-NO" u="sng" dirty="0"/>
              <a:t>Indirekte kostnader</a:t>
            </a:r>
            <a:r>
              <a:rPr lang="nb-NO" dirty="0"/>
              <a:t> - kostnader som er indirekte knyttet til produktet </a:t>
            </a:r>
          </a:p>
          <a:p>
            <a:pPr lvl="1"/>
            <a:r>
              <a:rPr lang="nb-NO" dirty="0"/>
              <a:t>Eksempel: Lønn, husleie, strøm </a:t>
            </a:r>
            <a:r>
              <a:rPr lang="nb-NO" dirty="0" err="1"/>
              <a:t>etc</a:t>
            </a:r>
            <a:endParaRPr lang="nb-NO" dirty="0"/>
          </a:p>
          <a:p>
            <a:pPr lvl="1"/>
            <a:r>
              <a:rPr lang="nb-NO" dirty="0"/>
              <a:t>Indirekte kostnader kan være faste eller variable kostnader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6019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A3D07C-FFCB-4167-83B5-1A26039F7A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Kalkyle i varehandelsbedrifter</a:t>
            </a:r>
          </a:p>
        </p:txBody>
      </p:sp>
    </p:spTree>
    <p:extLst>
      <p:ext uri="{BB962C8B-B14F-4D97-AF65-F5344CB8AC3E}">
        <p14:creationId xmlns:p14="http://schemas.microsoft.com/office/powerpoint/2010/main" val="777158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BD1C41-A5D3-42E1-AB5D-2F9A9CD6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Kalkyle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81DB4C4-27D5-4EBE-AC0F-804F4538F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2056" cy="4944630"/>
          </a:xfrm>
        </p:spPr>
        <p:txBody>
          <a:bodyPr/>
          <a:lstStyle/>
          <a:p>
            <a:r>
              <a:rPr lang="nb-NO" dirty="0"/>
              <a:t>De direkte kostandene til en handelsbedrift er varekostnadene, dvs. varenes innkjøpskostnader (inntakskost) inkl. alle kostnader som påløper inntil varene er på lager i bedriften</a:t>
            </a:r>
          </a:p>
          <a:p>
            <a:r>
              <a:rPr lang="nb-NO" dirty="0"/>
              <a:t>I tillegg har handelsbedrifter indirekte kostnader knyttet til salg, administrasjon etc. </a:t>
            </a:r>
          </a:p>
          <a:p>
            <a:r>
              <a:rPr lang="nb-NO" u="sng" dirty="0"/>
              <a:t>Kalkyle</a:t>
            </a:r>
            <a:r>
              <a:rPr lang="nb-NO" dirty="0"/>
              <a:t> handler om å framskaffe informasjon for blant annet:</a:t>
            </a:r>
          </a:p>
          <a:p>
            <a:pPr lvl="1"/>
            <a:r>
              <a:rPr lang="nb-NO" sz="2800" dirty="0"/>
              <a:t>beregne hvilken pris bedriften bør ta for et produkt gitt at inntektene skal dekke kostnadene og gi fortjeneste </a:t>
            </a:r>
            <a:r>
              <a:rPr lang="nb-NO" sz="2800" i="1" dirty="0"/>
              <a:t>eller</a:t>
            </a:r>
          </a:p>
          <a:p>
            <a:pPr lvl="1"/>
            <a:r>
              <a:rPr lang="nb-NO" sz="2800" dirty="0"/>
              <a:t>beregne hvor stort dekningsbidrag bedriften vil oppnå gitt prisen på et produkt</a:t>
            </a:r>
          </a:p>
        </p:txBody>
      </p:sp>
    </p:spTree>
    <p:extLst>
      <p:ext uri="{BB962C8B-B14F-4D97-AF65-F5344CB8AC3E}">
        <p14:creationId xmlns:p14="http://schemas.microsoft.com/office/powerpoint/2010/main" val="362805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6A64B8A-1D51-4802-BF0E-6C78FEC29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Selvkost og Fortjeneste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B2C13D8-584C-45E2-A98B-A9249306DE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78309" cy="5032376"/>
              </a:xfrm>
            </p:spPr>
            <p:txBody>
              <a:bodyPr>
                <a:normAutofit/>
              </a:bodyPr>
              <a:lstStyle/>
              <a:p>
                <a:r>
                  <a:rPr lang="nb-NO" sz="3000" dirty="0"/>
                  <a:t>Summen av de direkte og de indirekte kostnadene kaller vi for selvkost: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𝑆𝑒𝑙𝑣𝑘𝑜𝑠𝑡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𝐷𝑖𝑟𝑒𝑘𝑡𝑒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𝑘𝑜𝑠𝑡𝑛𝑎𝑑𝑒𝑟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𝐼𝑛𝑑𝑖𝑟𝑒𝑘𝑡𝑒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𝑘𝑜𝑠𝑡𝑛𝑎𝑑𝑒𝑟</m:t>
                      </m:r>
                    </m:oMath>
                  </m:oMathPara>
                </a14:m>
                <a:endParaRPr lang="nb-NO" sz="3000" dirty="0"/>
              </a:p>
              <a:p>
                <a:r>
                  <a:rPr lang="nb-NO" sz="3000" dirty="0"/>
                  <a:t>Fortjeneste er det bedriften har igjen etter at alle direkte og indirekte kostnader (dvs. selvkost) er trukket fra salgsinntekten (eks. merverdi-avgift):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𝐹𝑜𝑟𝑡𝑗𝑒𝑛𝑒𝑠𝑡𝑒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𝑆𝑎𝑙𝑔𝑠𝑖𝑛𝑛𝑡𝑒𝑘𝑡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𝑆𝑒𝑙𝑣𝑘𝑜𝑠𝑡</m:t>
                      </m:r>
                    </m:oMath>
                  </m:oMathPara>
                </a14:m>
                <a:endParaRPr lang="nb-NO" sz="3000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B2C13D8-584C-45E2-A98B-A9249306D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78309" cy="5032376"/>
              </a:xfrm>
              <a:blipFill>
                <a:blip r:embed="rId2"/>
                <a:stretch>
                  <a:fillRect l="-1146" t="-2421" r="-136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13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D46A9C9-2752-4950-BBCC-7AF535D7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9997" cy="1325563"/>
          </a:xfrm>
        </p:spPr>
        <p:txBody>
          <a:bodyPr/>
          <a:lstStyle/>
          <a:p>
            <a:r>
              <a:rPr lang="nb-NO" dirty="0"/>
              <a:t>Oppbygging av selvkostkalkyle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FCDDA0-BDAD-4857-9212-6DE1E578A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447" y="1867545"/>
            <a:ext cx="11584983" cy="4905213"/>
          </a:xfrm>
        </p:spPr>
        <p:txBody>
          <a:bodyPr>
            <a:normAutofit fontScale="70000" lnSpcReduction="20000"/>
          </a:bodyPr>
          <a:lstStyle/>
          <a:p>
            <a:pPr hangingPunct="0">
              <a:buNone/>
            </a:pPr>
            <a:r>
              <a:rPr lang="nb-NO" sz="4800" dirty="0"/>
              <a:t>		Innkjøpssum </a:t>
            </a:r>
            <a:r>
              <a:rPr lang="nb-NO" sz="2800" dirty="0"/>
              <a:t>(Prisen som betales til leverandøren)</a:t>
            </a:r>
          </a:p>
          <a:p>
            <a:pPr hangingPunct="0">
              <a:buNone/>
            </a:pPr>
            <a:r>
              <a:rPr lang="nb-NO" sz="4800" u="sng" dirty="0"/>
              <a:t>+ 	Direkte innkjøpskostnader</a:t>
            </a:r>
            <a:r>
              <a:rPr lang="nb-NO" sz="2800" dirty="0"/>
              <a:t> (Kostnader knyttet til leveranse av den spesifikke varen)</a:t>
            </a:r>
          </a:p>
          <a:p>
            <a:pPr hangingPunct="0">
              <a:buNone/>
            </a:pPr>
            <a:r>
              <a:rPr lang="nb-NO" sz="4800" dirty="0"/>
              <a:t>= 	Sum inntakskost</a:t>
            </a:r>
          </a:p>
          <a:p>
            <a:pPr hangingPunct="0">
              <a:buNone/>
            </a:pPr>
            <a:r>
              <a:rPr lang="nb-NO" sz="4800" u="sng" dirty="0"/>
              <a:t>+ 	Indirekte kostnader</a:t>
            </a:r>
            <a:r>
              <a:rPr lang="nb-NO" sz="2800" dirty="0"/>
              <a:t> (Kostnader som ikke kan henføres direkte til spesifikke varen)</a:t>
            </a:r>
          </a:p>
          <a:p>
            <a:pPr hangingPunct="0">
              <a:buNone/>
            </a:pPr>
            <a:r>
              <a:rPr lang="nb-NO" sz="4800" dirty="0"/>
              <a:t>= 	Selvkost</a:t>
            </a:r>
          </a:p>
          <a:p>
            <a:pPr hangingPunct="0">
              <a:buNone/>
            </a:pPr>
            <a:r>
              <a:rPr lang="nb-NO" sz="4800" u="sng" dirty="0"/>
              <a:t>+ 	Fortjeneste</a:t>
            </a:r>
          </a:p>
          <a:p>
            <a:pPr hangingPunct="0">
              <a:buNone/>
            </a:pPr>
            <a:r>
              <a:rPr lang="nb-NO" sz="4800" dirty="0"/>
              <a:t>= 	Pris</a:t>
            </a:r>
          </a:p>
          <a:p>
            <a:pPr hangingPunct="0">
              <a:buNone/>
            </a:pPr>
            <a:r>
              <a:rPr lang="nb-NO" sz="4800" u="sng" dirty="0"/>
              <a:t>+ 	Merverdiavgift</a:t>
            </a:r>
          </a:p>
          <a:p>
            <a:pPr hangingPunct="0">
              <a:buNone/>
            </a:pPr>
            <a:r>
              <a:rPr lang="nb-NO" sz="4800" dirty="0"/>
              <a:t>= 	Pris inkl. merverdiavgift</a:t>
            </a:r>
            <a:r>
              <a:rPr lang="nb-NO" sz="2800" dirty="0"/>
              <a:t> (Utsalgspris til kunde)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6488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6A64B8A-1D51-4802-BF0E-6C78FEC29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Avanse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B2C13D8-584C-45E2-A98B-A9249306DE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80736" cy="4667251"/>
              </a:xfrm>
            </p:spPr>
            <p:txBody>
              <a:bodyPr>
                <a:normAutofit/>
              </a:bodyPr>
              <a:lstStyle/>
              <a:p>
                <a:r>
                  <a:rPr lang="nb-NO" sz="3000" dirty="0"/>
                  <a:t>Avanse er summen av indirekte kostnader og fortjeneste</a:t>
                </a:r>
              </a:p>
              <a:p>
                <a:r>
                  <a:rPr lang="nb-NO" sz="3000" dirty="0"/>
                  <a:t>Alternativt: Avanse = Salgsinntekt (varesalg) – Inntakskost (varekjøp)</a:t>
                </a:r>
                <a:endParaRPr lang="nb-NO" sz="2600" dirty="0"/>
              </a:p>
              <a:p>
                <a:r>
                  <a:rPr lang="nb-NO" sz="3000" dirty="0"/>
                  <a:t>Avanse regnes i prosent av </a:t>
                </a:r>
                <a:r>
                  <a:rPr lang="nb-NO" sz="3000" i="1" dirty="0"/>
                  <a:t>inntakskost</a:t>
                </a:r>
                <a:r>
                  <a:rPr lang="nb-NO" sz="3000" dirty="0"/>
                  <a:t> (varekjøp)</a:t>
                </a:r>
              </a:p>
              <a:p>
                <a:pPr marL="742950" lvl="2" indent="-342900"/>
                <a:r>
                  <a:rPr lang="nb-NO" sz="2600" dirty="0"/>
                  <a:t>Brukes når man skal kalkulere utsalgsprisen på varer og tjenester 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𝐴𝑣𝑎𝑛𝑠𝑒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 % 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𝐴𝑣𝑎𝑛𝑠𝑒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𝐼𝑛𝑛𝑡𝑎𝑘𝑠𝑘𝑜𝑠𝑡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nb-NO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𝑆𝑎𝑙𝑔𝑠𝑖𝑛𝑛𝑡𝑒𝑘𝑡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𝐼𝑛𝑛𝑡𝑎𝑘𝑠𝑘𝑜𝑠𝑡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𝐼𝑛𝑛𝑡𝑎𝑘𝑠𝑘𝑜𝑠𝑡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B2C13D8-584C-45E2-A98B-A9249306D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80736" cy="4667251"/>
              </a:xfrm>
              <a:blipFill>
                <a:blip r:embed="rId2"/>
                <a:stretch>
                  <a:fillRect l="-1145" t="-261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2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25809" y="186972"/>
            <a:ext cx="10865448" cy="1325563"/>
          </a:xfrm>
        </p:spPr>
        <p:txBody>
          <a:bodyPr/>
          <a:lstStyle/>
          <a:p>
            <a:r>
              <a:rPr lang="nb-NO" dirty="0"/>
              <a:t>Priskalkyle for handelsbedrift</a:t>
            </a:r>
          </a:p>
        </p:txBody>
      </p:sp>
      <p:cxnSp>
        <p:nvCxnSpPr>
          <p:cNvPr id="3" name="Rett pil 3"/>
          <p:cNvCxnSpPr/>
          <p:nvPr/>
        </p:nvCxnSpPr>
        <p:spPr>
          <a:xfrm flipV="1">
            <a:off x="475962" y="3405673"/>
            <a:ext cx="0" cy="292931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tt pil 3"/>
          <p:cNvCxnSpPr/>
          <p:nvPr/>
        </p:nvCxnSpPr>
        <p:spPr>
          <a:xfrm>
            <a:off x="475962" y="6315180"/>
            <a:ext cx="1121529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Sylinder 6"/>
          <p:cNvSpPr txBox="1"/>
          <p:nvPr/>
        </p:nvSpPr>
        <p:spPr>
          <a:xfrm>
            <a:off x="291456" y="306932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kr</a:t>
            </a:r>
          </a:p>
        </p:txBody>
      </p:sp>
      <p:sp>
        <p:nvSpPr>
          <p:cNvPr id="10" name="Avrundet rektangel 9"/>
          <p:cNvSpPr/>
          <p:nvPr/>
        </p:nvSpPr>
        <p:spPr>
          <a:xfrm>
            <a:off x="557999" y="1862930"/>
            <a:ext cx="1979335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Leverandører</a:t>
            </a:r>
          </a:p>
        </p:txBody>
      </p:sp>
      <p:sp>
        <p:nvSpPr>
          <p:cNvPr id="14" name="Avrundet rektangel 13"/>
          <p:cNvSpPr/>
          <p:nvPr/>
        </p:nvSpPr>
        <p:spPr>
          <a:xfrm>
            <a:off x="9362871" y="1928099"/>
            <a:ext cx="192024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Kunder</a:t>
            </a:r>
          </a:p>
        </p:txBody>
      </p:sp>
      <p:sp>
        <p:nvSpPr>
          <p:cNvPr id="18" name="Rektangel 17"/>
          <p:cNvSpPr/>
          <p:nvPr/>
        </p:nvSpPr>
        <p:spPr>
          <a:xfrm>
            <a:off x="2241725" y="5406371"/>
            <a:ext cx="1409300" cy="922086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Direkte varekostnad</a:t>
            </a:r>
          </a:p>
        </p:txBody>
      </p:sp>
      <p:sp>
        <p:nvSpPr>
          <p:cNvPr id="27" name="Rektangel 26"/>
          <p:cNvSpPr/>
          <p:nvPr/>
        </p:nvSpPr>
        <p:spPr>
          <a:xfrm>
            <a:off x="5145942" y="5407879"/>
            <a:ext cx="1409300" cy="922086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Direkte varekostnad</a:t>
            </a:r>
          </a:p>
        </p:txBody>
      </p:sp>
      <p:sp>
        <p:nvSpPr>
          <p:cNvPr id="31" name="Høyrebuet pil 30"/>
          <p:cNvSpPr/>
          <p:nvPr/>
        </p:nvSpPr>
        <p:spPr>
          <a:xfrm>
            <a:off x="4927874" y="4907939"/>
            <a:ext cx="214604" cy="55667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32" name="TekstSylinder 31"/>
          <p:cNvSpPr txBox="1"/>
          <p:nvPr/>
        </p:nvSpPr>
        <p:spPr>
          <a:xfrm>
            <a:off x="3931915" y="4709613"/>
            <a:ext cx="105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Beregnes</a:t>
            </a:r>
          </a:p>
          <a:p>
            <a:pPr algn="ctr"/>
            <a:r>
              <a:rPr lang="nb-NO" dirty="0"/>
              <a:t>av</a:t>
            </a:r>
          </a:p>
        </p:txBody>
      </p:sp>
      <p:sp>
        <p:nvSpPr>
          <p:cNvPr id="39" name="Høyre klammeparentes 38"/>
          <p:cNvSpPr/>
          <p:nvPr/>
        </p:nvSpPr>
        <p:spPr>
          <a:xfrm>
            <a:off x="3712197" y="5406371"/>
            <a:ext cx="134353" cy="922086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0" name="Rett pil 3"/>
          <p:cNvCxnSpPr>
            <a:cxnSpLocks/>
            <a:endCxn id="27" idx="1"/>
          </p:cNvCxnSpPr>
          <p:nvPr/>
        </p:nvCxnSpPr>
        <p:spPr>
          <a:xfrm flipV="1">
            <a:off x="3927753" y="5868922"/>
            <a:ext cx="1218189" cy="92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ktangel 46"/>
          <p:cNvSpPr/>
          <p:nvPr/>
        </p:nvSpPr>
        <p:spPr>
          <a:xfrm>
            <a:off x="8097848" y="3547429"/>
            <a:ext cx="1409300" cy="278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Pris</a:t>
            </a:r>
          </a:p>
          <a:p>
            <a:pPr algn="ctr"/>
            <a:r>
              <a:rPr lang="nb-NO" dirty="0"/>
              <a:t>(eks. mva.)</a:t>
            </a:r>
          </a:p>
        </p:txBody>
      </p:sp>
      <p:sp>
        <p:nvSpPr>
          <p:cNvPr id="48" name="Høyre klammeparentes 47"/>
          <p:cNvSpPr/>
          <p:nvPr/>
        </p:nvSpPr>
        <p:spPr>
          <a:xfrm>
            <a:off x="6555953" y="3525403"/>
            <a:ext cx="117839" cy="2769966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9" name="Rett pil 3"/>
          <p:cNvCxnSpPr>
            <a:cxnSpLocks/>
          </p:cNvCxnSpPr>
          <p:nvPr/>
        </p:nvCxnSpPr>
        <p:spPr>
          <a:xfrm>
            <a:off x="6742545" y="4914164"/>
            <a:ext cx="1355303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vrundet rektangel 59"/>
          <p:cNvSpPr/>
          <p:nvPr/>
        </p:nvSpPr>
        <p:spPr>
          <a:xfrm>
            <a:off x="3683063" y="1900694"/>
            <a:ext cx="1713424" cy="80633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bg1"/>
                </a:solidFill>
              </a:rPr>
              <a:t>Varelager</a:t>
            </a:r>
          </a:p>
        </p:txBody>
      </p:sp>
      <p:sp>
        <p:nvSpPr>
          <p:cNvPr id="61" name="Avrundet rektangel 60"/>
          <p:cNvSpPr/>
          <p:nvPr/>
        </p:nvSpPr>
        <p:spPr>
          <a:xfrm>
            <a:off x="5924318" y="1900694"/>
            <a:ext cx="2310934" cy="8063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bg1"/>
                </a:solidFill>
              </a:rPr>
              <a:t>Salg, adm. </a:t>
            </a:r>
            <a:r>
              <a:rPr lang="nb-NO" sz="2400" dirty="0" err="1">
                <a:solidFill>
                  <a:schemeClr val="bg1"/>
                </a:solidFill>
              </a:rPr>
              <a:t>etc</a:t>
            </a:r>
            <a:endParaRPr lang="nb-NO" sz="2400" dirty="0">
              <a:solidFill>
                <a:schemeClr val="bg1"/>
              </a:solidFill>
            </a:endParaRPr>
          </a:p>
        </p:txBody>
      </p:sp>
      <p:sp>
        <p:nvSpPr>
          <p:cNvPr id="62" name="Pil ned 61"/>
          <p:cNvSpPr/>
          <p:nvPr/>
        </p:nvSpPr>
        <p:spPr>
          <a:xfrm rot="16200000">
            <a:off x="5501045" y="2034108"/>
            <a:ext cx="318078" cy="527193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3" name="Pil høyre 62"/>
          <p:cNvSpPr/>
          <p:nvPr/>
        </p:nvSpPr>
        <p:spPr>
          <a:xfrm>
            <a:off x="2537334" y="1843120"/>
            <a:ext cx="1145090" cy="4988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Varer</a:t>
            </a:r>
          </a:p>
        </p:txBody>
      </p:sp>
      <p:sp>
        <p:nvSpPr>
          <p:cNvPr id="64" name="Pil venstre 63"/>
          <p:cNvSpPr/>
          <p:nvPr/>
        </p:nvSpPr>
        <p:spPr>
          <a:xfrm>
            <a:off x="2516098" y="2239875"/>
            <a:ext cx="1166326" cy="4933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Betaling</a:t>
            </a:r>
          </a:p>
        </p:txBody>
      </p:sp>
      <p:sp>
        <p:nvSpPr>
          <p:cNvPr id="65" name="Pil høyre 64"/>
          <p:cNvSpPr/>
          <p:nvPr/>
        </p:nvSpPr>
        <p:spPr>
          <a:xfrm>
            <a:off x="8230769" y="1882013"/>
            <a:ext cx="1145090" cy="4988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Varer</a:t>
            </a:r>
          </a:p>
        </p:txBody>
      </p:sp>
      <p:sp>
        <p:nvSpPr>
          <p:cNvPr id="66" name="Pil venstre 65"/>
          <p:cNvSpPr/>
          <p:nvPr/>
        </p:nvSpPr>
        <p:spPr>
          <a:xfrm>
            <a:off x="8209533" y="2278768"/>
            <a:ext cx="1166326" cy="4933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Betaling</a:t>
            </a:r>
          </a:p>
        </p:txBody>
      </p:sp>
      <p:sp>
        <p:nvSpPr>
          <p:cNvPr id="36" name="Rektangel 35"/>
          <p:cNvSpPr/>
          <p:nvPr/>
        </p:nvSpPr>
        <p:spPr>
          <a:xfrm>
            <a:off x="5131897" y="3521493"/>
            <a:ext cx="1423072" cy="189577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% avanse</a:t>
            </a:r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6FC854A1-B4A6-47B9-AFA0-34014508B36F}"/>
              </a:ext>
            </a:extLst>
          </p:cNvPr>
          <p:cNvSpPr/>
          <p:nvPr/>
        </p:nvSpPr>
        <p:spPr>
          <a:xfrm>
            <a:off x="8097848" y="3016336"/>
            <a:ext cx="1423072" cy="531092"/>
          </a:xfrm>
          <a:prstGeom prst="rect">
            <a:avLst/>
          </a:prstGeom>
          <a:solidFill>
            <a:srgbClr val="FFFF00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% </a:t>
            </a:r>
            <a:r>
              <a:rPr lang="nb-NO" dirty="0" err="1">
                <a:solidFill>
                  <a:schemeClr val="tx1"/>
                </a:solidFill>
              </a:rPr>
              <a:t>mva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8" name="Høyrebuet pil 30">
            <a:extLst>
              <a:ext uri="{FF2B5EF4-FFF2-40B4-BE49-F238E27FC236}">
                <a16:creationId xmlns:a16="http://schemas.microsoft.com/office/drawing/2014/main" id="{1DAF0BD5-0048-41D7-A669-86B31D2D8BCF}"/>
              </a:ext>
            </a:extLst>
          </p:cNvPr>
          <p:cNvSpPr/>
          <p:nvPr/>
        </p:nvSpPr>
        <p:spPr>
          <a:xfrm>
            <a:off x="7869472" y="3231102"/>
            <a:ext cx="214604" cy="55667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33" name="TekstSylinder 32">
            <a:extLst>
              <a:ext uri="{FF2B5EF4-FFF2-40B4-BE49-F238E27FC236}">
                <a16:creationId xmlns:a16="http://schemas.microsoft.com/office/drawing/2014/main" id="{4F2BCF9C-B06C-4D6E-B1F6-F067E24A32B7}"/>
              </a:ext>
            </a:extLst>
          </p:cNvPr>
          <p:cNvSpPr txBox="1"/>
          <p:nvPr/>
        </p:nvSpPr>
        <p:spPr>
          <a:xfrm>
            <a:off x="6923088" y="2993445"/>
            <a:ext cx="105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Beregnes</a:t>
            </a:r>
          </a:p>
          <a:p>
            <a:pPr algn="ctr"/>
            <a:r>
              <a:rPr lang="nb-NO" dirty="0"/>
              <a:t>av</a:t>
            </a:r>
          </a:p>
        </p:txBody>
      </p:sp>
      <p:sp>
        <p:nvSpPr>
          <p:cNvPr id="34" name="Høyre klammeparentes 33">
            <a:extLst>
              <a:ext uri="{FF2B5EF4-FFF2-40B4-BE49-F238E27FC236}">
                <a16:creationId xmlns:a16="http://schemas.microsoft.com/office/drawing/2014/main" id="{14340833-45B4-4AF2-85D5-545BF61D7165}"/>
              </a:ext>
            </a:extLst>
          </p:cNvPr>
          <p:cNvSpPr/>
          <p:nvPr/>
        </p:nvSpPr>
        <p:spPr>
          <a:xfrm>
            <a:off x="9579379" y="3020823"/>
            <a:ext cx="117839" cy="3256749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TekstSylinder 34">
            <a:extLst>
              <a:ext uri="{FF2B5EF4-FFF2-40B4-BE49-F238E27FC236}">
                <a16:creationId xmlns:a16="http://schemas.microsoft.com/office/drawing/2014/main" id="{A5F6FE72-368A-410F-8341-2302E597435A}"/>
              </a:ext>
            </a:extLst>
          </p:cNvPr>
          <p:cNvSpPr txBox="1"/>
          <p:nvPr/>
        </p:nvSpPr>
        <p:spPr>
          <a:xfrm>
            <a:off x="9895379" y="4474355"/>
            <a:ext cx="139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Pris til kunde</a:t>
            </a:r>
          </a:p>
        </p:txBody>
      </p:sp>
      <p:sp>
        <p:nvSpPr>
          <p:cNvPr id="30" name="Rektangel 29">
            <a:extLst>
              <a:ext uri="{FF2B5EF4-FFF2-40B4-BE49-F238E27FC236}">
                <a16:creationId xmlns:a16="http://schemas.microsoft.com/office/drawing/2014/main" id="{B9EF179E-36C6-4A25-8035-D50A72565314}"/>
              </a:ext>
            </a:extLst>
          </p:cNvPr>
          <p:cNvSpPr/>
          <p:nvPr/>
        </p:nvSpPr>
        <p:spPr>
          <a:xfrm>
            <a:off x="3672713" y="1676176"/>
            <a:ext cx="4632323" cy="1229361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516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CEF34F1-9347-4918-B7AB-79F32BD8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Bruttofortjeneste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9F6C3633-556D-4B62-8E02-C72544CD1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nb-NO" sz="3000" dirty="0"/>
                  <a:t>Bruttofortjeneste er salgsinntekt fratrukket inntakskost og tilsvarer avansen rent beløpsmessig</a:t>
                </a:r>
              </a:p>
              <a:p>
                <a:r>
                  <a:rPr lang="nb-NO" sz="3000" dirty="0"/>
                  <a:t>Bruttofortjeneste regnes i prosent av </a:t>
                </a:r>
                <a:r>
                  <a:rPr lang="nb-NO" sz="3000" i="1" dirty="0"/>
                  <a:t>salgsinntekten</a:t>
                </a:r>
                <a:r>
                  <a:rPr lang="nb-NO" sz="3000" dirty="0"/>
                  <a:t> (eks. </a:t>
                </a:r>
                <a:r>
                  <a:rPr lang="nb-NO" sz="3000" dirty="0" err="1"/>
                  <a:t>mva</a:t>
                </a:r>
                <a:r>
                  <a:rPr lang="nb-NO" sz="3000" dirty="0"/>
                  <a:t>)</a:t>
                </a:r>
              </a:p>
              <a:p>
                <a:pPr marL="742950" lvl="2" indent="-342900"/>
                <a:r>
                  <a:rPr lang="nb-NO" sz="2600" dirty="0"/>
                  <a:t>Forteller hva vi tjener på salget før vi har dekket de indirekte kostandene</a:t>
                </a:r>
              </a:p>
              <a:p>
                <a:pPr marL="0" lvl="1" indent="-57150">
                  <a:buNone/>
                </a:pPr>
                <a:endParaRPr lang="nb-NO" sz="3000" dirty="0"/>
              </a:p>
              <a:p>
                <a:pPr marL="0" lvl="1" indent="-5715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𝐵𝑟𝑢𝑡𝑡𝑜𝑓𝑜𝑟𝑡𝑗𝑒𝑛𝑒𝑠𝑡𝑒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nb-NO" sz="3000" b="0" i="1" smtClean="0">
                          <a:latin typeface="Cambria Math" panose="02040503050406030204" pitchFamily="18" charset="0"/>
                        </a:rPr>
                        <m:t> %= </m:t>
                      </m:r>
                      <m:f>
                        <m:fPr>
                          <m:ctrlPr>
                            <a:rPr lang="nb-NO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000" b="0" i="1" smtClean="0">
                              <a:latin typeface="Cambria Math" panose="02040503050406030204" pitchFamily="18" charset="0"/>
                            </a:rPr>
                            <m:t>𝐴𝑣𝑎𝑛𝑠𝑒</m:t>
                          </m:r>
                        </m:num>
                        <m:den>
                          <m:r>
                            <a:rPr lang="nb-NO" sz="3000" b="0" i="1" smtClean="0">
                              <a:latin typeface="Cambria Math" panose="02040503050406030204" pitchFamily="18" charset="0"/>
                            </a:rPr>
                            <m:t>𝑆𝑎𝑙𝑔𝑠𝑖𝑛𝑛𝑡𝑒𝑘𝑡</m:t>
                          </m:r>
                          <m:r>
                            <a:rPr lang="nb-NO" sz="3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nb-NO" sz="3000" b="0" i="1" smtClean="0">
                              <a:latin typeface="Cambria Math" panose="02040503050406030204" pitchFamily="18" charset="0"/>
                            </a:rPr>
                            <m:t>𝑝𝑟𝑖𝑠</m:t>
                          </m:r>
                          <m:r>
                            <a:rPr lang="nb-NO" sz="3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nb-NO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nb-NO" sz="3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1" indent="-57150">
                  <a:buNone/>
                </a:pPr>
                <a:endParaRPr lang="nb-NO" sz="3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1" indent="-5715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𝑆𝑎𝑙𝑔𝑠𝑖𝑛𝑛𝑡𝑒𝑘𝑡</m:t>
                          </m:r>
                          <m:r>
                            <a:rPr lang="nb-NO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nb-NO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𝐼𝑛𝑛𝑡𝑎𝑘𝑠𝑘𝑜𝑠𝑡</m:t>
                          </m:r>
                        </m:num>
                        <m:den>
                          <m:r>
                            <a:rPr lang="nb-NO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𝑆𝑎𝑙𝑔𝑠𝑖𝑛𝑛𝑡𝑒𝑘𝑡</m:t>
                          </m:r>
                        </m:den>
                      </m:f>
                      <m:r>
                        <a:rPr lang="nb-NO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nb-NO" sz="3000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9F6C3633-556D-4B62-8E02-C72544CD1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4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89C88AE-964B-478D-877C-B014F051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7707211-804F-45F9-8CB4-DAA6D73B9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10254" cy="4962633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nb-NO" altLang="nb-NO" sz="2800" dirty="0"/>
              <a:t>Anta følgende for en vare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nb-NO" altLang="nb-NO" sz="2400" dirty="0"/>
              <a:t>Salgsprisen er 150 kroner (inklusiv 25% merverdiavgift)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nb-NO" altLang="nb-NO" sz="2400" dirty="0"/>
              <a:t>Variable kostnader (varekjøp) er 100 kroner eks. merverdiavgift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nb-NO" altLang="nb-NO" sz="2400" dirty="0"/>
              <a:t>Bedriften regner med å selge 6000 enheter av varen.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nb-NO" altLang="nb-NO" sz="2400" dirty="0"/>
              <a:t>Faste kostander er kr 85 000,-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nb-NO" altLang="nb-NO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nb-NO" altLang="nb-NO" sz="2800" dirty="0"/>
              <a:t>Spørsmål:</a:t>
            </a:r>
            <a:endParaRPr lang="nb-NO" altLang="nb-NO" sz="2400" dirty="0"/>
          </a:p>
          <a:p>
            <a:pPr marL="914400" lvl="1" indent="-457200" eaLnBrk="1" hangingPunct="1">
              <a:lnSpc>
                <a:spcPct val="90000"/>
              </a:lnSpc>
              <a:buFontTx/>
              <a:buAutoNum type="alphaLcParenR"/>
            </a:pPr>
            <a:r>
              <a:rPr lang="nb-NO" altLang="nb-NO" sz="2400" dirty="0"/>
              <a:t>Hva er salgspris uten </a:t>
            </a:r>
            <a:r>
              <a:rPr lang="nb-NO" altLang="nb-NO" sz="2400" dirty="0" err="1"/>
              <a:t>mva</a:t>
            </a:r>
            <a:r>
              <a:rPr lang="nb-NO" altLang="nb-NO" sz="2400" dirty="0"/>
              <a:t>?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lphaLcParenR"/>
            </a:pPr>
            <a:r>
              <a:rPr lang="nb-NO" altLang="nb-NO" sz="2400" dirty="0"/>
              <a:t>Hva er avansen i kroner og %?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lphaLcParenR"/>
            </a:pPr>
            <a:r>
              <a:rPr lang="nb-NO" altLang="nb-NO" sz="2400" dirty="0"/>
              <a:t>Hva er bruttofortjenesten i kroner og % ?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lphaLcParenR"/>
            </a:pPr>
            <a:r>
              <a:rPr lang="nb-NO" altLang="nb-NO" sz="2400" dirty="0"/>
              <a:t>Hva er den totale fortjenesten for produktet?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89942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4C8401-E4C2-47F4-980B-17337F69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</a:t>
            </a:r>
          </a:p>
        </p:txBody>
      </p:sp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A5E4D32C-BC67-416E-84A8-F844B4FA0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458546"/>
              </p:ext>
            </p:extLst>
          </p:nvPr>
        </p:nvGraphicFramePr>
        <p:xfrm>
          <a:off x="3308265" y="1349469"/>
          <a:ext cx="5281553" cy="521278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4263034877"/>
                    </a:ext>
                  </a:extLst>
                </a:gridCol>
                <a:gridCol w="2170960">
                  <a:extLst>
                    <a:ext uri="{9D8B030D-6E8A-4147-A177-3AD203B41FA5}">
                      <a16:colId xmlns:a16="http://schemas.microsoft.com/office/drawing/2014/main" val="713329852"/>
                    </a:ext>
                  </a:extLst>
                </a:gridCol>
                <a:gridCol w="1450109">
                  <a:extLst>
                    <a:ext uri="{9D8B030D-6E8A-4147-A177-3AD203B41FA5}">
                      <a16:colId xmlns:a16="http://schemas.microsoft.com/office/drawing/2014/main" val="3124991663"/>
                    </a:ext>
                  </a:extLst>
                </a:gridCol>
                <a:gridCol w="1228436">
                  <a:extLst>
                    <a:ext uri="{9D8B030D-6E8A-4147-A177-3AD203B41FA5}">
                      <a16:colId xmlns:a16="http://schemas.microsoft.com/office/drawing/2014/main" val="3266415594"/>
                    </a:ext>
                  </a:extLst>
                </a:gridCol>
              </a:tblGrid>
              <a:tr h="32132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000" u="none" strike="noStrike" dirty="0">
                          <a:effectLst/>
                        </a:rPr>
                        <a:t>a)</a:t>
                      </a:r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/>
                </a:tc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1600" u="none" strike="noStrike" dirty="0">
                          <a:effectLst/>
                        </a:rPr>
                        <a:t>Pris uten </a:t>
                      </a:r>
                      <a:r>
                        <a:rPr lang="nb-NO" sz="1600" u="none" strike="noStrike" dirty="0" err="1">
                          <a:effectLst/>
                        </a:rPr>
                        <a:t>m.v.a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effectLst/>
                        </a:rPr>
                        <a:t>150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1600" u="none" strike="noStrike" dirty="0">
                          <a:effectLst/>
                        </a:rPr>
                        <a:t>= 120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922499779"/>
                  </a:ext>
                </a:extLst>
              </a:tr>
              <a:tr h="272117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effectLst/>
                        </a:rPr>
                        <a:t>1,25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998414"/>
                  </a:ext>
                </a:extLst>
              </a:tr>
              <a:tr h="348772">
                <a:tc>
                  <a:txBody>
                    <a:bodyPr/>
                    <a:lstStyle/>
                    <a:p>
                      <a:pPr algn="ctr" fontAlgn="ctr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/>
                </a:tc>
                <a:tc>
                  <a:txBody>
                    <a:bodyPr/>
                    <a:lstStyle/>
                    <a:p>
                      <a:pPr algn="r" fontAlgn="ctr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997901786"/>
                  </a:ext>
                </a:extLst>
              </a:tr>
              <a:tr h="338588">
                <a:tc>
                  <a:txBody>
                    <a:bodyPr/>
                    <a:lstStyle/>
                    <a:p>
                      <a:pPr algn="ct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b)</a:t>
                      </a: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Pris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120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nb-NO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061323655"/>
                  </a:ext>
                </a:extLst>
              </a:tr>
              <a:tr h="338588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-Varekjøp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100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645395939"/>
                  </a:ext>
                </a:extLst>
              </a:tr>
              <a:tr h="338588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= Avanse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529846091"/>
                  </a:ext>
                </a:extLst>
              </a:tr>
              <a:tr h="338588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860514133"/>
                  </a:ext>
                </a:extLst>
              </a:tr>
              <a:tr h="272117">
                <a:tc rowSpan="2">
                  <a:txBody>
                    <a:bodyPr/>
                    <a:lstStyle/>
                    <a:p>
                      <a:pPr algn="ctr" fontAlgn="ctr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/>
                </a:tc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Avanse i %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nb-NO" sz="16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20 %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2915477893"/>
                  </a:ext>
                </a:extLst>
              </a:tr>
              <a:tr h="272117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100</a:t>
                      </a:r>
                      <a:endParaRPr lang="nb-NO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60919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113247401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c)</a:t>
                      </a: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Pris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120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335420205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sng" strike="noStrike" dirty="0">
                          <a:solidFill>
                            <a:srgbClr val="0000FF"/>
                          </a:solidFill>
                          <a:effectLst/>
                        </a:rPr>
                        <a:t>- Varekjøp</a:t>
                      </a:r>
                      <a:endParaRPr lang="nb-NO" sz="16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sng" strike="noStrike" dirty="0">
                          <a:solidFill>
                            <a:srgbClr val="0000FF"/>
                          </a:solidFill>
                          <a:effectLst/>
                        </a:rPr>
                        <a:t>100</a:t>
                      </a:r>
                      <a:endParaRPr lang="nb-NO" sz="16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97370038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 = Bruttofortjeneste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20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650346947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r" fontAlgn="b"/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673984968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Bruttofortjeneste i % =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20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 = 16,6 %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016252527"/>
                  </a:ext>
                </a:extLst>
              </a:tr>
              <a:tr h="338854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120</a:t>
                      </a:r>
                      <a:endParaRPr lang="nb-NO" sz="16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445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Snakkeboble: rektangel med avrundede hjørner 3">
                <a:extLst>
                  <a:ext uri="{FF2B5EF4-FFF2-40B4-BE49-F238E27FC236}">
                    <a16:creationId xmlns:a16="http://schemas.microsoft.com/office/drawing/2014/main" id="{69510D62-2510-5B78-99C8-406EF8F66D64}"/>
                  </a:ext>
                </a:extLst>
              </p:cNvPr>
              <p:cNvSpPr/>
              <p:nvPr/>
            </p:nvSpPr>
            <p:spPr>
              <a:xfrm>
                <a:off x="9337040" y="701040"/>
                <a:ext cx="2214880" cy="1076960"/>
              </a:xfrm>
              <a:prstGeom prst="wedgeRoundRectCallout">
                <a:avLst>
                  <a:gd name="adj1" fmla="val -82759"/>
                  <a:gd name="adj2" fmla="val 40801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1,25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=150</m:t>
                      </m:r>
                    </m:oMath>
                  </m:oMathPara>
                </a14:m>
                <a:endParaRPr lang="nb-NO" b="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nb-NO" b="0" dirty="0"/>
                  <a:t>=&gt;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150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1,25</m:t>
                        </m:r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</a:rPr>
                      <m:t>=120</m:t>
                    </m:r>
                  </m:oMath>
                </a14:m>
                <a:endParaRPr lang="nb-NO" dirty="0"/>
              </a:p>
            </p:txBody>
          </p:sp>
        </mc:Choice>
        <mc:Fallback>
          <p:sp>
            <p:nvSpPr>
              <p:cNvPr id="4" name="Snakkeboble: rektangel med avrundede hjørner 3">
                <a:extLst>
                  <a:ext uri="{FF2B5EF4-FFF2-40B4-BE49-F238E27FC236}">
                    <a16:creationId xmlns:a16="http://schemas.microsoft.com/office/drawing/2014/main" id="{69510D62-2510-5B78-99C8-406EF8F66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040" y="701040"/>
                <a:ext cx="2214880" cy="1076960"/>
              </a:xfrm>
              <a:prstGeom prst="wedgeRoundRectCallout">
                <a:avLst>
                  <a:gd name="adj1" fmla="val -82759"/>
                  <a:gd name="adj2" fmla="val 40801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882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CCFF79-3B39-4630-8F60-40813D2C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</a:t>
            </a:r>
          </a:p>
        </p:txBody>
      </p:sp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3E9EE018-9B3E-4007-91EB-972BDCDD8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941718"/>
              </p:ext>
            </p:extLst>
          </p:nvPr>
        </p:nvGraphicFramePr>
        <p:xfrm>
          <a:off x="1882421" y="1883570"/>
          <a:ext cx="7920881" cy="238270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4263034877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71332985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12499166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26641559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8478222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273001199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599542799"/>
                    </a:ext>
                  </a:extLst>
                </a:gridCol>
              </a:tblGrid>
              <a:tr h="340615">
                <a:tc>
                  <a:txBody>
                    <a:bodyPr/>
                    <a:lstStyle/>
                    <a:p>
                      <a:pPr algn="ct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113247401"/>
                  </a:ext>
                </a:extLst>
              </a:tr>
              <a:tr h="340348">
                <a:tc>
                  <a:txBody>
                    <a:bodyPr/>
                    <a:lstStyle/>
                    <a:p>
                      <a:pPr algn="ctr" fontAlgn="b"/>
                      <a:r>
                        <a:rPr lang="nb-NO" sz="2000" u="none" strike="noStrike" dirty="0">
                          <a:effectLst/>
                        </a:rPr>
                        <a:t>d)</a:t>
                      </a:r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Salgsinntekt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120*6000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effectLst/>
                        </a:rPr>
                        <a:t>=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720</a:t>
                      </a:r>
                      <a:r>
                        <a:rPr lang="nb-NO" sz="1600" u="none" strike="noStrike" baseline="0" dirty="0">
                          <a:effectLst/>
                        </a:rPr>
                        <a:t> 000</a:t>
                      </a:r>
                      <a:endParaRPr lang="nb-NO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48822633"/>
                  </a:ext>
                </a:extLst>
              </a:tr>
              <a:tr h="340348"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nb-NO" sz="1600" u="none" strike="noStrike" dirty="0">
                          <a:effectLst/>
                        </a:rPr>
                        <a:t>Varekjøp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100*6000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600" u="none" strike="noStrike" dirty="0">
                          <a:effectLst/>
                        </a:rPr>
                        <a:t>=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600 000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79679"/>
                  </a:ext>
                </a:extLst>
              </a:tr>
              <a:tr h="340348"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= Dekningsbidrag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120 000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2243327"/>
                  </a:ext>
                </a:extLst>
              </a:tr>
              <a:tr h="340348"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- Faste kostander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85 000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052052566"/>
                  </a:ext>
                </a:extLst>
              </a:tr>
              <a:tr h="340348"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 = Fortjeneste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600" u="none" strike="noStrike" dirty="0">
                          <a:effectLst/>
                        </a:rPr>
                        <a:t>35 000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407050479"/>
                  </a:ext>
                </a:extLst>
              </a:tr>
              <a:tr h="340348">
                <a:tc>
                  <a:txBody>
                    <a:bodyPr/>
                    <a:lstStyle/>
                    <a:p>
                      <a:pPr algn="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 h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59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386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0F0167F-F98C-482A-B1F8-81020845F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164" y="1122363"/>
            <a:ext cx="11333018" cy="2387600"/>
          </a:xfrm>
        </p:spPr>
        <p:txBody>
          <a:bodyPr>
            <a:normAutofit/>
          </a:bodyPr>
          <a:lstStyle/>
          <a:p>
            <a:r>
              <a:rPr lang="nb-NO" dirty="0"/>
              <a:t>Kostnadsfordeling og driftsregnskap i varehandelsbedrifter</a:t>
            </a:r>
          </a:p>
        </p:txBody>
      </p:sp>
    </p:spTree>
    <p:extLst>
      <p:ext uri="{BB962C8B-B14F-4D97-AF65-F5344CB8AC3E}">
        <p14:creationId xmlns:p14="http://schemas.microsoft.com/office/powerpoint/2010/main" val="276496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AB290F8-6A9B-4990-86E3-3FBF5858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71" y="365125"/>
            <a:ext cx="11825207" cy="1325563"/>
          </a:xfrm>
        </p:spPr>
        <p:txBody>
          <a:bodyPr/>
          <a:lstStyle/>
          <a:p>
            <a:r>
              <a:rPr lang="nb-NO" dirty="0"/>
              <a:t>Driftsregnskap: Fordeling av inntekter og kostnader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74F35F7-E87D-4BBF-AD11-D4B16253E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5495" cy="4551928"/>
          </a:xfrm>
        </p:spPr>
        <p:txBody>
          <a:bodyPr/>
          <a:lstStyle/>
          <a:p>
            <a:r>
              <a:rPr lang="nb-NO" dirty="0"/>
              <a:t>I driftsregnskapet fordeles salgsinntekter, direkte kostnader og indirekte kostnader på de ulike avdelingene i bedriften</a:t>
            </a:r>
          </a:p>
          <a:p>
            <a:r>
              <a:rPr lang="nb-NO" dirty="0"/>
              <a:t>Salgsinntektene og de direkte kostnadene er enkle å fordele på avdelinger fordi en vet i hvilken avdeling de enkelte varene er solgt</a:t>
            </a:r>
            <a:endParaRPr lang="nb-NO" dirty="0">
              <a:solidFill>
                <a:srgbClr val="FF0000"/>
              </a:solidFill>
            </a:endParaRPr>
          </a:p>
          <a:p>
            <a:r>
              <a:rPr lang="nb-NO" dirty="0"/>
              <a:t>De indirekte kostnadene må derimot fordeles på avdelingene</a:t>
            </a:r>
          </a:p>
          <a:p>
            <a:r>
              <a:rPr lang="nb-NO" dirty="0"/>
              <a:t>I driftsregnskapet fordeles de indirekte kostnadene ved hjelp av  </a:t>
            </a:r>
            <a:r>
              <a:rPr lang="nb-NO" u="sng" dirty="0"/>
              <a:t>fordelingsnøkler</a:t>
            </a:r>
            <a:r>
              <a:rPr lang="nb-NO" dirty="0"/>
              <a:t> basert på hensiktsmessige fordelingskriterier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81975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459F641-7EED-4516-B860-A722EE2DF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386" y="365125"/>
            <a:ext cx="10856562" cy="1325563"/>
          </a:xfrm>
        </p:spPr>
        <p:txBody>
          <a:bodyPr/>
          <a:lstStyle/>
          <a:p>
            <a:r>
              <a:rPr lang="nb-NO" dirty="0"/>
              <a:t>Eksempel på fordelingsnøkler</a:t>
            </a:r>
          </a:p>
        </p:txBody>
      </p:sp>
      <p:graphicFrame>
        <p:nvGraphicFramePr>
          <p:cNvPr id="4" name="Plassholder for innhold 6">
            <a:extLst>
              <a:ext uri="{FF2B5EF4-FFF2-40B4-BE49-F238E27FC236}">
                <a16:creationId xmlns:a16="http://schemas.microsoft.com/office/drawing/2014/main" id="{05722563-7B37-4904-8ABF-2423C35793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7553585"/>
              </p:ext>
            </p:extLst>
          </p:nvPr>
        </p:nvGraphicFramePr>
        <p:xfrm>
          <a:off x="1503336" y="1866027"/>
          <a:ext cx="8315984" cy="4626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632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b="1" dirty="0"/>
                        <a:t>Totalt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Storkiosken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Hobby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Fordelings nøkkel </a:t>
                      </a:r>
                      <a:r>
                        <a:rPr lang="nb-NO" dirty="0" err="1"/>
                        <a:t>nr</a:t>
                      </a:r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Benyttet antall kvadratmeter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b="1" dirty="0"/>
                        <a:t>200</a:t>
                      </a:r>
                    </a:p>
                    <a:p>
                      <a:pPr algn="ctr"/>
                      <a:r>
                        <a:rPr lang="nb-NO" b="1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130</a:t>
                      </a:r>
                    </a:p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(65%)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70</a:t>
                      </a:r>
                    </a:p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(35%)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Bruk av ansatte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b="1" dirty="0"/>
                        <a:t>1000 timer</a:t>
                      </a:r>
                    </a:p>
                    <a:p>
                      <a:pPr algn="ctr"/>
                      <a:r>
                        <a:rPr lang="nb-NO" b="1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700 timer</a:t>
                      </a:r>
                    </a:p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(70%)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300 timer</a:t>
                      </a:r>
                    </a:p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(30%)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Bruk av bil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b="1" dirty="0"/>
                        <a:t>Lik fordeling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Andre driftskostnader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b-N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Avskrivinger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b-N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Eierlønn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b="1" dirty="0"/>
                        <a:t>4000 timer</a:t>
                      </a:r>
                    </a:p>
                    <a:p>
                      <a:pPr algn="ctr"/>
                      <a:r>
                        <a:rPr lang="nb-NO" b="1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2100 timer</a:t>
                      </a:r>
                    </a:p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(52,5%)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1900 timer</a:t>
                      </a:r>
                    </a:p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(47,5%)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r>
                        <a:rPr lang="nb-NO" dirty="0"/>
                        <a:t>Kalkulatoriske</a:t>
                      </a:r>
                      <a:r>
                        <a:rPr lang="nb-NO" baseline="0" dirty="0"/>
                        <a:t> renter</a:t>
                      </a:r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nb-N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>
                          <a:solidFill>
                            <a:srgbClr val="00B050"/>
                          </a:solidFill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190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B8C663-7782-484F-9ABC-42CBCAA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12" y="0"/>
            <a:ext cx="10515600" cy="1325563"/>
          </a:xfrm>
        </p:spPr>
        <p:txBody>
          <a:bodyPr/>
          <a:lstStyle/>
          <a:p>
            <a:r>
              <a:rPr lang="nb-NO" dirty="0"/>
              <a:t>Eksempel på driftsregnskap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B3192-9288-4C64-A84C-23A770914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5442987"/>
              </p:ext>
            </p:extLst>
          </p:nvPr>
        </p:nvGraphicFramePr>
        <p:xfrm>
          <a:off x="1465672" y="1162831"/>
          <a:ext cx="8632227" cy="53939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37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Totalt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Storkiosk</a:t>
                      </a:r>
                      <a:endParaRPr lang="nn-NO" sz="1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Hobbyartikler</a:t>
                      </a:r>
                      <a:endParaRPr lang="nn-NO" sz="1400" b="1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Fordelingsnøkkel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4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Driftsinntekter: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Salgsinntekter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3 600 000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1 400 000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Direkte kostnader: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Varekostnader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3 000 000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2 350 000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650 000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Bruttofortjeneste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1 250 000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750 000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Indirekte kostnader (betalbare):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Strøm og oppvarming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130 000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1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2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Arbeidsgiveravgift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2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Bilkostnader inkl. drivstoff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3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Andre driftskostnader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4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51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Kalkulatoriske kostnader: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Avskrivninger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70 000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5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39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Eierlønn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1 000 000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6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Renter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7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26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Sum indirekte 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Selvkost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4 778 000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8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Nettofortjeneste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222 000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76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B8C663-7782-484F-9ABC-42CBCAA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12" y="0"/>
            <a:ext cx="10515600" cy="1325563"/>
          </a:xfrm>
        </p:spPr>
        <p:txBody>
          <a:bodyPr/>
          <a:lstStyle/>
          <a:p>
            <a:r>
              <a:rPr lang="nb-NO" dirty="0"/>
              <a:t>Eksempel på driftsregnskap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B3192-9288-4C64-A84C-23A770914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6008815"/>
              </p:ext>
            </p:extLst>
          </p:nvPr>
        </p:nvGraphicFramePr>
        <p:xfrm>
          <a:off x="1465672" y="1162831"/>
          <a:ext cx="8632227" cy="53939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37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Totalt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Storkiosk</a:t>
                      </a:r>
                      <a:endParaRPr lang="nn-NO" sz="1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Hobbyartikler</a:t>
                      </a:r>
                      <a:endParaRPr lang="nn-NO" sz="1400" b="1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Fordelingsnøkkel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4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Driftsinntekter: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Salgsinntekter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3 600 000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1 400 000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Direkte kostnader: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Varekostnader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3 000 000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2 350 000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650 000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Bruttofortjeneste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1 250 000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750 000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Indirekte kostnader (betalbare):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Strøm og oppvarming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130 000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FF0000"/>
                          </a:solidFill>
                          <a:effectLst/>
                        </a:rPr>
                        <a:t>84 500</a:t>
                      </a:r>
                      <a:endParaRPr lang="nn-NO" sz="12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2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1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2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Arbeidsgiveravgift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2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Bilkostnader inkl. drivstoff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3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Andre driftskostnader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4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51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Kalkulatoriske kostnader: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Avskrivninger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70 000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5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39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Eierlønn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1 000 000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6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Renter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7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26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Sum indirekte 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Selvkost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4 778 000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8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Nettofortjeneste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222 000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5" name="Pil: bøyd nedover 4">
            <a:extLst>
              <a:ext uri="{FF2B5EF4-FFF2-40B4-BE49-F238E27FC236}">
                <a16:creationId xmlns:a16="http://schemas.microsoft.com/office/drawing/2014/main" id="{736B3E94-5693-4ED4-8D73-653A3C0580EF}"/>
              </a:ext>
            </a:extLst>
          </p:cNvPr>
          <p:cNvSpPr/>
          <p:nvPr/>
        </p:nvSpPr>
        <p:spPr>
          <a:xfrm>
            <a:off x="5394038" y="2911763"/>
            <a:ext cx="1551709" cy="5172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nakkeboble: rektangel med avrundede hjørner 5">
                <a:extLst>
                  <a:ext uri="{FF2B5EF4-FFF2-40B4-BE49-F238E27FC236}">
                    <a16:creationId xmlns:a16="http://schemas.microsoft.com/office/drawing/2014/main" id="{8CF93E5F-5B33-476D-8E8B-3986B49027D0}"/>
                  </a:ext>
                </a:extLst>
              </p:cNvPr>
              <p:cNvSpPr/>
              <p:nvPr/>
            </p:nvSpPr>
            <p:spPr>
              <a:xfrm>
                <a:off x="5987512" y="1803684"/>
                <a:ext cx="2080983" cy="684710"/>
              </a:xfrm>
              <a:prstGeom prst="wedgeRoundRectCallout">
                <a:avLst>
                  <a:gd name="adj1" fmla="val -40762"/>
                  <a:gd name="adj2" fmla="val 112720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130 000∙0,65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6" name="Snakkeboble: rektangel med avrundede hjørner 5">
                <a:extLst>
                  <a:ext uri="{FF2B5EF4-FFF2-40B4-BE49-F238E27FC236}">
                    <a16:creationId xmlns:a16="http://schemas.microsoft.com/office/drawing/2014/main" id="{8CF93E5F-5B33-476D-8E8B-3986B4902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512" y="1803684"/>
                <a:ext cx="2080983" cy="684710"/>
              </a:xfrm>
              <a:prstGeom prst="wedgeRoundRectCallout">
                <a:avLst>
                  <a:gd name="adj1" fmla="val -40762"/>
                  <a:gd name="adj2" fmla="val 112720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25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B8C663-7782-484F-9ABC-42CBCAA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12" y="0"/>
            <a:ext cx="10515600" cy="1325563"/>
          </a:xfrm>
        </p:spPr>
        <p:txBody>
          <a:bodyPr/>
          <a:lstStyle/>
          <a:p>
            <a:r>
              <a:rPr lang="nb-NO" dirty="0"/>
              <a:t>Eksempel på driftsregnskap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B3192-9288-4C64-A84C-23A770914402}"/>
              </a:ext>
            </a:extLst>
          </p:cNvPr>
          <p:cNvGraphicFramePr>
            <a:graphicFrameLocks/>
          </p:cNvGraphicFramePr>
          <p:nvPr/>
        </p:nvGraphicFramePr>
        <p:xfrm>
          <a:off x="1465672" y="1162831"/>
          <a:ext cx="8632227" cy="53939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37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Totalt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Storkiosk</a:t>
                      </a:r>
                      <a:endParaRPr lang="nn-NO" sz="1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Hobbyartikler</a:t>
                      </a:r>
                      <a:endParaRPr lang="nn-NO" sz="1400" b="1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Fordelingsnøkkel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4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Driftsinntekter: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Salgsinntekter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3 600 000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1 400 000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Direkte kostnader: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Varekostnader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3 000 000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2 350 000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650 000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Bruttofortjeneste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1 250 000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750 000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Indirekte kostnader (betalbare):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Strøm og oppvarming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130 000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FF0000"/>
                          </a:solidFill>
                          <a:effectLst/>
                        </a:rPr>
                        <a:t>84 500</a:t>
                      </a:r>
                      <a:endParaRPr lang="nn-NO" sz="12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00B050"/>
                          </a:solidFill>
                          <a:effectLst/>
                        </a:rPr>
                        <a:t>45 500</a:t>
                      </a:r>
                      <a:endParaRPr lang="nn-NO" sz="12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1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2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Arbeidsgiveravgift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2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Bilkostnader inkl. drivstoff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3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Andre driftskostnader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4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51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Kalkulatoriske kostnader: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Avskrivninger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70 000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5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39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Eierlønn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1 000 000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6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Renter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7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26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Sum indirekte 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Selvkost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4 778 000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8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Nettofortjeneste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222 000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5" name="Pil: bøyd nedover 4">
            <a:extLst>
              <a:ext uri="{FF2B5EF4-FFF2-40B4-BE49-F238E27FC236}">
                <a16:creationId xmlns:a16="http://schemas.microsoft.com/office/drawing/2014/main" id="{736B3E94-5693-4ED4-8D73-653A3C0580EF}"/>
              </a:ext>
            </a:extLst>
          </p:cNvPr>
          <p:cNvSpPr/>
          <p:nvPr/>
        </p:nvSpPr>
        <p:spPr>
          <a:xfrm>
            <a:off x="5394038" y="2911763"/>
            <a:ext cx="3149598" cy="5172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nakkeboble: rektangel med avrundede hjørner 5">
                <a:extLst>
                  <a:ext uri="{FF2B5EF4-FFF2-40B4-BE49-F238E27FC236}">
                    <a16:creationId xmlns:a16="http://schemas.microsoft.com/office/drawing/2014/main" id="{349642A5-64FD-4E33-904A-BA0E1302813F}"/>
                  </a:ext>
                </a:extLst>
              </p:cNvPr>
              <p:cNvSpPr/>
              <p:nvPr/>
            </p:nvSpPr>
            <p:spPr>
              <a:xfrm>
                <a:off x="6968837" y="2075961"/>
                <a:ext cx="2080983" cy="684710"/>
              </a:xfrm>
              <a:prstGeom prst="wedgeRoundRectCallout">
                <a:avLst>
                  <a:gd name="adj1" fmla="val -32394"/>
                  <a:gd name="adj2" fmla="val 72099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130 000∙0,35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6" name="Snakkeboble: rektangel med avrundede hjørner 5">
                <a:extLst>
                  <a:ext uri="{FF2B5EF4-FFF2-40B4-BE49-F238E27FC236}">
                    <a16:creationId xmlns:a16="http://schemas.microsoft.com/office/drawing/2014/main" id="{349642A5-64FD-4E33-904A-BA0E130281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37" y="2075961"/>
                <a:ext cx="2080983" cy="684710"/>
              </a:xfrm>
              <a:prstGeom prst="wedgeRoundRectCallout">
                <a:avLst>
                  <a:gd name="adj1" fmla="val -32394"/>
                  <a:gd name="adj2" fmla="val 72099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995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B8C663-7782-484F-9ABC-42CBCAA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12" y="0"/>
            <a:ext cx="10515600" cy="1325563"/>
          </a:xfrm>
        </p:spPr>
        <p:txBody>
          <a:bodyPr/>
          <a:lstStyle/>
          <a:p>
            <a:r>
              <a:rPr lang="nb-NO" dirty="0"/>
              <a:t>Eksempel på driftsregnskap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B3192-9288-4C64-A84C-23A770914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221685"/>
              </p:ext>
            </p:extLst>
          </p:nvPr>
        </p:nvGraphicFramePr>
        <p:xfrm>
          <a:off x="1465672" y="1162831"/>
          <a:ext cx="8632227" cy="53939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37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Totalt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Storkiosk</a:t>
                      </a:r>
                      <a:endParaRPr lang="nn-NO" sz="1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Hobbyartikler</a:t>
                      </a:r>
                      <a:endParaRPr lang="nn-NO" sz="1400" b="1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Fordelingsnøkkel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4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Driftsinntekter: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Salgsinntekter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3 600 000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1 400 000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Direkte kostnader: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Varekostnader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3 000 000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2 350 000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650 000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Bruttofortjeneste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1 250 000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750 000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Indirekte kostnader (betalbare):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Strøm og oppvarming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130 000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FF0000"/>
                          </a:solidFill>
                          <a:effectLst/>
                        </a:rPr>
                        <a:t>84 500</a:t>
                      </a:r>
                      <a:endParaRPr lang="nn-NO" sz="12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00B050"/>
                          </a:solidFill>
                          <a:effectLst/>
                        </a:rPr>
                        <a:t>45 500</a:t>
                      </a:r>
                      <a:endParaRPr lang="nn-NO" sz="12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1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140 000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2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Arbeidsgiveravgift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2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Bilkostnader inkl. drivstoff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3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Andre driftskostnader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4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51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Kalkulatoriske kostnader: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Avskrivninger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70 000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5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39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Eierlønn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1 000 000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6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Renter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7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26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Sum indirekte 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Selvkost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4 778 000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8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Nettofortjeneste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222 000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7" name="Pil: bøyd nedover 6">
            <a:extLst>
              <a:ext uri="{FF2B5EF4-FFF2-40B4-BE49-F238E27FC236}">
                <a16:creationId xmlns:a16="http://schemas.microsoft.com/office/drawing/2014/main" id="{27F112E7-24ED-4485-B24D-FDE42EAED8B0}"/>
              </a:ext>
            </a:extLst>
          </p:cNvPr>
          <p:cNvSpPr/>
          <p:nvPr/>
        </p:nvSpPr>
        <p:spPr>
          <a:xfrm>
            <a:off x="5384801" y="3096491"/>
            <a:ext cx="1551709" cy="5172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nakkeboble: rektangel med avrundede hjørner 7">
                <a:extLst>
                  <a:ext uri="{FF2B5EF4-FFF2-40B4-BE49-F238E27FC236}">
                    <a16:creationId xmlns:a16="http://schemas.microsoft.com/office/drawing/2014/main" id="{8A7CE530-BB6B-4648-ADA6-B088D33719A1}"/>
                  </a:ext>
                </a:extLst>
              </p:cNvPr>
              <p:cNvSpPr/>
              <p:nvPr/>
            </p:nvSpPr>
            <p:spPr>
              <a:xfrm>
                <a:off x="6096000" y="2239713"/>
                <a:ext cx="2080983" cy="684710"/>
              </a:xfrm>
              <a:prstGeom prst="wedgeRoundRectCallout">
                <a:avLst>
                  <a:gd name="adj1" fmla="val -39123"/>
                  <a:gd name="adj2" fmla="val 74877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=200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000∙0,7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8" name="Snakkeboble: rektangel med avrundede hjørner 7">
                <a:extLst>
                  <a:ext uri="{FF2B5EF4-FFF2-40B4-BE49-F238E27FC236}">
                    <a16:creationId xmlns:a16="http://schemas.microsoft.com/office/drawing/2014/main" id="{8A7CE530-BB6B-4648-ADA6-B088D3371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39713"/>
                <a:ext cx="2080983" cy="684710"/>
              </a:xfrm>
              <a:prstGeom prst="wedgeRoundRectCallout">
                <a:avLst>
                  <a:gd name="adj1" fmla="val -39123"/>
                  <a:gd name="adj2" fmla="val 74877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576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B8C663-7782-484F-9ABC-42CBCAA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12" y="0"/>
            <a:ext cx="10515600" cy="1325563"/>
          </a:xfrm>
        </p:spPr>
        <p:txBody>
          <a:bodyPr/>
          <a:lstStyle/>
          <a:p>
            <a:r>
              <a:rPr lang="nb-NO" dirty="0"/>
              <a:t>Eksempel på driftsregnskap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B3192-9288-4C64-A84C-23A770914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4879550"/>
              </p:ext>
            </p:extLst>
          </p:nvPr>
        </p:nvGraphicFramePr>
        <p:xfrm>
          <a:off x="1465672" y="1162831"/>
          <a:ext cx="8632227" cy="53939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37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Totalt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Storkiosk</a:t>
                      </a:r>
                      <a:endParaRPr lang="nn-NO" sz="1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Hobbyartikler</a:t>
                      </a:r>
                      <a:endParaRPr lang="nn-NO" sz="1400" b="1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Fordelingsnøkkel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4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Driftsinntekter: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Salgsinntekter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3 600 000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1 400 000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Direkte kostnader: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Varekostnader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3 000 000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2 350 000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650 000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Bruttofortjeneste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1 250 000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750 000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Indirekte kostnader (betalbare):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Strøm og oppvarming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130 000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FF0000"/>
                          </a:solidFill>
                          <a:effectLst/>
                        </a:rPr>
                        <a:t>84 500</a:t>
                      </a:r>
                      <a:endParaRPr lang="nn-NO" sz="12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200" dirty="0">
                          <a:solidFill>
                            <a:srgbClr val="00B050"/>
                          </a:solidFill>
                          <a:effectLst/>
                        </a:rPr>
                        <a:t>45 500</a:t>
                      </a:r>
                      <a:endParaRPr lang="nn-NO" sz="12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1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140 000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60 000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2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Arbeidsgiveravgift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2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Bilkostnader inkl. drivstoff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3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Andre driftskostnader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4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51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Kalkulatoriske kostnader: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Avskrivninger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70 000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5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39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Eierlønn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1 000 000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6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Renter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7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26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Sum indirekte 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Selvkost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4 778 000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8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Nettofortjeneste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222 000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5" name="Pil: bøyd nedover 4">
            <a:extLst>
              <a:ext uri="{FF2B5EF4-FFF2-40B4-BE49-F238E27FC236}">
                <a16:creationId xmlns:a16="http://schemas.microsoft.com/office/drawing/2014/main" id="{736B3E94-5693-4ED4-8D73-653A3C0580EF}"/>
              </a:ext>
            </a:extLst>
          </p:cNvPr>
          <p:cNvSpPr/>
          <p:nvPr/>
        </p:nvSpPr>
        <p:spPr>
          <a:xfrm>
            <a:off x="5357092" y="3102991"/>
            <a:ext cx="3149598" cy="5172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nakkeboble: rektangel med avrundede hjørner 6">
                <a:extLst>
                  <a:ext uri="{FF2B5EF4-FFF2-40B4-BE49-F238E27FC236}">
                    <a16:creationId xmlns:a16="http://schemas.microsoft.com/office/drawing/2014/main" id="{002C684B-1A26-4F7E-B61F-6706A609E65B}"/>
                  </a:ext>
                </a:extLst>
              </p:cNvPr>
              <p:cNvSpPr/>
              <p:nvPr/>
            </p:nvSpPr>
            <p:spPr>
              <a:xfrm>
                <a:off x="7003020" y="2179221"/>
                <a:ext cx="2080983" cy="684710"/>
              </a:xfrm>
              <a:prstGeom prst="wedgeRoundRectCallout">
                <a:avLst>
                  <a:gd name="adj1" fmla="val -44714"/>
                  <a:gd name="adj2" fmla="val 86434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=200</m:t>
                      </m:r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000∙0,3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7" name="Snakkeboble: rektangel med avrundede hjørner 6">
                <a:extLst>
                  <a:ext uri="{FF2B5EF4-FFF2-40B4-BE49-F238E27FC236}">
                    <a16:creationId xmlns:a16="http://schemas.microsoft.com/office/drawing/2014/main" id="{002C684B-1A26-4F7E-B61F-6706A609E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020" y="2179221"/>
                <a:ext cx="2080983" cy="684710"/>
              </a:xfrm>
              <a:prstGeom prst="wedgeRoundRectCallout">
                <a:avLst>
                  <a:gd name="adj1" fmla="val -44714"/>
                  <a:gd name="adj2" fmla="val 86434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411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B8C663-7782-484F-9ABC-42CBCAA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12" y="0"/>
            <a:ext cx="10515600" cy="1325563"/>
          </a:xfrm>
        </p:spPr>
        <p:txBody>
          <a:bodyPr/>
          <a:lstStyle/>
          <a:p>
            <a:r>
              <a:rPr lang="nb-NO" dirty="0"/>
              <a:t>Eksempel på driftsregnskap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B3192-9288-4C64-A84C-23A770914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2011023"/>
              </p:ext>
            </p:extLst>
          </p:nvPr>
        </p:nvGraphicFramePr>
        <p:xfrm>
          <a:off x="1465672" y="1162831"/>
          <a:ext cx="8632227" cy="53939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37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Totalt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Storkiosk</a:t>
                      </a:r>
                      <a:endParaRPr lang="nn-NO" sz="14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Hobbyartikler</a:t>
                      </a:r>
                      <a:endParaRPr lang="nn-NO" sz="1400" b="1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Fordelingsnøkkel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4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Driftsinntekter: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Salgsinntekter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3 600 000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1 400 000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Direkte kostnader: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Varekostnader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3 000 000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2 350 000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650 000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Bruttofortjeneste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2 000 000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1 250 000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750 000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Indirekte kostnader (betalbare):</a:t>
                      </a:r>
                      <a:endParaRPr lang="nn-NO" sz="1400" b="1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Strøm og oppvarming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130 000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84 500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45 500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1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140 000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60 000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2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Arbeidsgiveravgift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19 600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  8 400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2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Bilkostnader inkl. drivstoff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50 000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25 000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25 000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3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Andre driftskostnader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120 000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80 000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4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51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Kalkulatoriske kostnader:</a:t>
                      </a:r>
                      <a:endParaRPr lang="nn-NO" sz="1400" b="1" dirty="0">
                        <a:solidFill>
                          <a:srgbClr val="592057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Avskrivninger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70 000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49 000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21 000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5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39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Eierlønn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1 000 000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525 000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solidFill>
                            <a:srgbClr val="00B050"/>
                          </a:solidFill>
                          <a:effectLst/>
                        </a:rPr>
                        <a:t>475 000</a:t>
                      </a:r>
                      <a:endParaRPr lang="nn-NO" sz="140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6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Renter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100 000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50 000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50 000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7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26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Sum indirekte kostnader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1 778 000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1 013 100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764 900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48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Selvkost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4 778 000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3 363 100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1 414 900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8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>
                          <a:effectLst/>
                        </a:rPr>
                        <a:t> </a:t>
                      </a:r>
                      <a:endParaRPr lang="nn-NO" sz="140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 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56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Nettofortjeneste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b="1" dirty="0">
                          <a:effectLst/>
                        </a:rPr>
                        <a:t>222 000</a:t>
                      </a:r>
                      <a:endParaRPr lang="nn-NO" sz="1400" b="1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FF0000"/>
                          </a:solidFill>
                          <a:effectLst/>
                        </a:rPr>
                        <a:t>236 900</a:t>
                      </a:r>
                      <a:endParaRPr lang="nn-NO" sz="1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solidFill>
                            <a:srgbClr val="00B050"/>
                          </a:solidFill>
                          <a:effectLst/>
                        </a:rPr>
                        <a:t>–14 900</a:t>
                      </a:r>
                      <a:endParaRPr lang="nn-NO" sz="1400" dirty="0">
                        <a:solidFill>
                          <a:srgbClr val="00B05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15900" algn="l"/>
                          <a:tab pos="431800" algn="l"/>
                          <a:tab pos="648335" algn="l"/>
                          <a:tab pos="864235" algn="l"/>
                          <a:tab pos="1296035" algn="l"/>
                          <a:tab pos="1511935" algn="l"/>
                          <a:tab pos="1728470" algn="l"/>
                          <a:tab pos="1944370" algn="l"/>
                          <a:tab pos="2376170" algn="l"/>
                          <a:tab pos="2592070" algn="l"/>
                          <a:tab pos="2808605" algn="l"/>
                          <a:tab pos="3024505" algn="l"/>
                          <a:tab pos="3456305" algn="l"/>
                          <a:tab pos="3672205" algn="l"/>
                          <a:tab pos="3888740" algn="l"/>
                          <a:tab pos="4104640" algn="l"/>
                          <a:tab pos="4536440" algn="l"/>
                          <a:tab pos="4752340" algn="l"/>
                        </a:tabLst>
                      </a:pPr>
                      <a:r>
                        <a:rPr lang="nb-NO" sz="1400" dirty="0">
                          <a:effectLst/>
                        </a:rPr>
                        <a:t> </a:t>
                      </a:r>
                      <a:endParaRPr lang="nn-NO" sz="1400" dirty="0">
                        <a:solidFill>
                          <a:srgbClr val="00319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545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731A40B-07BC-4408-99CA-77058BC7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Anbefalte oppgaver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ACFA26B-068F-4284-AB25-B893A0ACD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Oppgave 2.1 og 2.5 i Driftsregnskap og budsjettering</a:t>
            </a:r>
          </a:p>
        </p:txBody>
      </p:sp>
    </p:spTree>
    <p:extLst>
      <p:ext uri="{BB962C8B-B14F-4D97-AF65-F5344CB8AC3E}">
        <p14:creationId xmlns:p14="http://schemas.microsoft.com/office/powerpoint/2010/main" val="134125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1773</Words>
  <Application>Microsoft Office PowerPoint</Application>
  <PresentationFormat>Widescreen</PresentationFormat>
  <Paragraphs>796</Paragraphs>
  <Slides>25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Office-tema</vt:lpstr>
      <vt:lpstr>2. Kalkyler, kostnadsfordeling og driftsregnskap i varehandelsbedrifter</vt:lpstr>
      <vt:lpstr>Pensum</vt:lpstr>
      <vt:lpstr>Varehandelsbedrifter</vt:lpstr>
      <vt:lpstr>Kostnadsarter</vt:lpstr>
      <vt:lpstr>Kostnadsarter</vt:lpstr>
      <vt:lpstr>Kalkyle i varehandelsbedrifter</vt:lpstr>
      <vt:lpstr>Kalkyle</vt:lpstr>
      <vt:lpstr>Selvkost og Fortjeneste</vt:lpstr>
      <vt:lpstr>Oppbygging av selvkostkalkyle</vt:lpstr>
      <vt:lpstr>Avanse</vt:lpstr>
      <vt:lpstr>Priskalkyle for handelsbedrift</vt:lpstr>
      <vt:lpstr>Bruttofortjeneste</vt:lpstr>
      <vt:lpstr>Eksempel</vt:lpstr>
      <vt:lpstr>Eksempel</vt:lpstr>
      <vt:lpstr>Eksempel</vt:lpstr>
      <vt:lpstr>Kostnadsfordeling og driftsregnskap i varehandelsbedrifter</vt:lpstr>
      <vt:lpstr>Driftsregnskap: Fordeling av inntekter og kostnader</vt:lpstr>
      <vt:lpstr>Eksempel på fordelingsnøkler</vt:lpstr>
      <vt:lpstr>Eksempel på driftsregnskap</vt:lpstr>
      <vt:lpstr>Eksempel på driftsregnskap</vt:lpstr>
      <vt:lpstr>Eksempel på driftsregnskap</vt:lpstr>
      <vt:lpstr>Eksempel på driftsregnskap</vt:lpstr>
      <vt:lpstr>Eksempel på driftsregnskap</vt:lpstr>
      <vt:lpstr>Eksempel på driftsregnskap</vt:lpstr>
      <vt:lpstr>Anbefalte oppgaver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Kalkyler, kostnadsfordeling og driftsregnskap i varehandelsbedrifter</dc:title>
  <dc:creator>Øyvind Sunde</dc:creator>
  <cp:lastModifiedBy>Øyvind Sunde</cp:lastModifiedBy>
  <cp:revision>32</cp:revision>
  <dcterms:created xsi:type="dcterms:W3CDTF">2021-01-06T14:20:05Z</dcterms:created>
  <dcterms:modified xsi:type="dcterms:W3CDTF">2025-01-11T10:23:15Z</dcterms:modified>
</cp:coreProperties>
</file>